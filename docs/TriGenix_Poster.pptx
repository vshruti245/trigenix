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1813" cy="7559675"/>
  <p:notesSz cx="21388388" cy="302752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72B3FCAF-DCD9-ACFA-75DD-87CE1021BD21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13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450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155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096" indent="-121096" algn="l" defTabSz="914400" rtl="0" eaLnBrk="1" latinLnBrk="0" hangingPunct="1">
        <a:spcBef>
          <a:spcPct val="20000"/>
        </a:spcBef>
        <a:buFont typeface="Arial" pitchFamily="34" charset="0"/>
        <a:buChar char="•"/>
        <a:defRPr sz="1130" kern="1200">
          <a:solidFill>
            <a:schemeClr val="tx1"/>
          </a:solidFill>
          <a:latin typeface="+mn-lt"/>
          <a:ea typeface="+mn-ea"/>
          <a:cs typeface="+mn-cs"/>
        </a:defRPr>
      </a:lvl1pPr>
      <a:lvl2pPr marL="262375" indent="-100914" algn="l" defTabSz="914400" rtl="0" eaLnBrk="1" latinLnBrk="0" hangingPunct="1">
        <a:spcBef>
          <a:spcPct val="20000"/>
        </a:spcBef>
        <a:buFont typeface="Arial" pitchFamily="34" charset="0"/>
        <a:buChar char="–"/>
        <a:defRPr sz="989" kern="1200">
          <a:solidFill>
            <a:schemeClr val="tx1"/>
          </a:solidFill>
          <a:latin typeface="+mn-lt"/>
          <a:ea typeface="+mn-ea"/>
          <a:cs typeface="+mn-cs"/>
        </a:defRPr>
      </a:lvl2pPr>
      <a:lvl3pPr marL="403654" indent="-80731" algn="l" defTabSz="914400" rtl="0" eaLnBrk="1" latinLnBrk="0" hangingPunct="1">
        <a:spcBef>
          <a:spcPct val="20000"/>
        </a:spcBef>
        <a:buFont typeface="Arial" pitchFamily="34" charset="0"/>
        <a:buChar char="•"/>
        <a:defRPr sz="848" kern="1200">
          <a:solidFill>
            <a:schemeClr val="tx1"/>
          </a:solidFill>
          <a:latin typeface="+mn-lt"/>
          <a:ea typeface="+mn-ea"/>
          <a:cs typeface="+mn-cs"/>
        </a:defRPr>
      </a:lvl3pPr>
      <a:lvl4pPr marL="565116" indent="-80731" algn="l" defTabSz="914400" rtl="0" eaLnBrk="1" latinLnBrk="0" hangingPunct="1">
        <a:spcBef>
          <a:spcPct val="20000"/>
        </a:spcBef>
        <a:buFont typeface="Arial" pitchFamily="34" charset="0"/>
        <a:buChar char="–"/>
        <a:defRPr sz="706" kern="1200">
          <a:solidFill>
            <a:schemeClr val="tx1"/>
          </a:solidFill>
          <a:latin typeface="+mn-lt"/>
          <a:ea typeface="+mn-ea"/>
          <a:cs typeface="+mn-cs"/>
        </a:defRPr>
      </a:lvl4pPr>
      <a:lvl5pPr marL="726578" indent="-80731" algn="l" defTabSz="914400" rtl="0" eaLnBrk="1" latinLnBrk="0" hangingPunct="1">
        <a:spcBef>
          <a:spcPct val="20000"/>
        </a:spcBef>
        <a:buFont typeface="Arial" pitchFamily="34" charset="0"/>
        <a:buChar char="»"/>
        <a:defRPr sz="706" kern="1200">
          <a:solidFill>
            <a:schemeClr val="tx1"/>
          </a:solidFill>
          <a:latin typeface="+mn-lt"/>
          <a:ea typeface="+mn-ea"/>
          <a:cs typeface="+mn-cs"/>
        </a:defRPr>
      </a:lvl5pPr>
      <a:lvl6pPr marL="888040" indent="-80731" algn="l" defTabSz="914400" rtl="0" eaLnBrk="1" latinLnBrk="0" hangingPunct="1">
        <a:spcBef>
          <a:spcPct val="20000"/>
        </a:spcBef>
        <a:buFont typeface="Arial" pitchFamily="34" charset="0"/>
        <a:buChar char="•"/>
        <a:defRPr sz="706" kern="1200">
          <a:solidFill>
            <a:schemeClr val="tx1"/>
          </a:solidFill>
          <a:latin typeface="+mn-lt"/>
          <a:ea typeface="+mn-ea"/>
          <a:cs typeface="+mn-cs"/>
        </a:defRPr>
      </a:lvl6pPr>
      <a:lvl7pPr marL="1049502" indent="-80731" algn="l" defTabSz="914400" rtl="0" eaLnBrk="1" latinLnBrk="0" hangingPunct="1">
        <a:spcBef>
          <a:spcPct val="20000"/>
        </a:spcBef>
        <a:buFont typeface="Arial" pitchFamily="34" charset="0"/>
        <a:buChar char="•"/>
        <a:defRPr sz="706" kern="1200">
          <a:solidFill>
            <a:schemeClr val="tx1"/>
          </a:solidFill>
          <a:latin typeface="+mn-lt"/>
          <a:ea typeface="+mn-ea"/>
          <a:cs typeface="+mn-cs"/>
        </a:defRPr>
      </a:lvl7pPr>
      <a:lvl8pPr marL="1210963" indent="-80731" algn="l" defTabSz="914400" rtl="0" eaLnBrk="1" latinLnBrk="0" hangingPunct="1">
        <a:spcBef>
          <a:spcPct val="20000"/>
        </a:spcBef>
        <a:buFont typeface="Arial" pitchFamily="34" charset="0"/>
        <a:buChar char="•"/>
        <a:defRPr sz="706" kern="1200">
          <a:solidFill>
            <a:schemeClr val="tx1"/>
          </a:solidFill>
          <a:latin typeface="+mn-lt"/>
          <a:ea typeface="+mn-ea"/>
          <a:cs typeface="+mn-cs"/>
        </a:defRPr>
      </a:lvl8pPr>
      <a:lvl9pPr marL="1372425" indent="-80731" algn="l" defTabSz="914400" rtl="0" eaLnBrk="1" latinLnBrk="0" hangingPunct="1">
        <a:spcBef>
          <a:spcPct val="20000"/>
        </a:spcBef>
        <a:buFont typeface="Arial" pitchFamily="34" charset="0"/>
        <a:buChar char="•"/>
        <a:defRPr sz="7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636" kern="1200">
          <a:solidFill>
            <a:schemeClr val="tx1"/>
          </a:solidFill>
          <a:latin typeface="+mn-lt"/>
          <a:ea typeface="+mn-ea"/>
          <a:cs typeface="+mn-cs"/>
        </a:defRPr>
      </a:lvl1pPr>
      <a:lvl2pPr marL="161462" algn="l" defTabSz="914400" rtl="0" eaLnBrk="1" latinLnBrk="0" hangingPunct="1">
        <a:defRPr sz="636" kern="1200">
          <a:solidFill>
            <a:schemeClr val="tx1"/>
          </a:solidFill>
          <a:latin typeface="+mn-lt"/>
          <a:ea typeface="+mn-ea"/>
          <a:cs typeface="+mn-cs"/>
        </a:defRPr>
      </a:lvl2pPr>
      <a:lvl3pPr marL="322924" algn="l" defTabSz="914400" rtl="0" eaLnBrk="1" latinLnBrk="0" hangingPunct="1">
        <a:defRPr sz="636" kern="1200">
          <a:solidFill>
            <a:schemeClr val="tx1"/>
          </a:solidFill>
          <a:latin typeface="+mn-lt"/>
          <a:ea typeface="+mn-ea"/>
          <a:cs typeface="+mn-cs"/>
        </a:defRPr>
      </a:lvl3pPr>
      <a:lvl4pPr marL="484385" algn="l" defTabSz="914400" rtl="0" eaLnBrk="1" latinLnBrk="0" hangingPunct="1">
        <a:defRPr sz="636" kern="1200">
          <a:solidFill>
            <a:schemeClr val="tx1"/>
          </a:solidFill>
          <a:latin typeface="+mn-lt"/>
          <a:ea typeface="+mn-ea"/>
          <a:cs typeface="+mn-cs"/>
        </a:defRPr>
      </a:lvl4pPr>
      <a:lvl5pPr marL="645847" algn="l" defTabSz="914400" rtl="0" eaLnBrk="1" latinLnBrk="0" hangingPunct="1">
        <a:defRPr sz="636" kern="1200">
          <a:solidFill>
            <a:schemeClr val="tx1"/>
          </a:solidFill>
          <a:latin typeface="+mn-lt"/>
          <a:ea typeface="+mn-ea"/>
          <a:cs typeface="+mn-cs"/>
        </a:defRPr>
      </a:lvl5pPr>
      <a:lvl6pPr marL="807309" algn="l" defTabSz="914400" rtl="0" eaLnBrk="1" latinLnBrk="0" hangingPunct="1">
        <a:defRPr sz="636" kern="1200">
          <a:solidFill>
            <a:schemeClr val="tx1"/>
          </a:solidFill>
          <a:latin typeface="+mn-lt"/>
          <a:ea typeface="+mn-ea"/>
          <a:cs typeface="+mn-cs"/>
        </a:defRPr>
      </a:lvl6pPr>
      <a:lvl7pPr marL="968771" algn="l" defTabSz="914400" rtl="0" eaLnBrk="1" latinLnBrk="0" hangingPunct="1">
        <a:defRPr sz="636" kern="1200">
          <a:solidFill>
            <a:schemeClr val="tx1"/>
          </a:solidFill>
          <a:latin typeface="+mn-lt"/>
          <a:ea typeface="+mn-ea"/>
          <a:cs typeface="+mn-cs"/>
        </a:defRPr>
      </a:lvl7pPr>
      <a:lvl8pPr marL="1130233" algn="l" defTabSz="914400" rtl="0" eaLnBrk="1" latinLnBrk="0" hangingPunct="1">
        <a:defRPr sz="636" kern="1200">
          <a:solidFill>
            <a:schemeClr val="tx1"/>
          </a:solidFill>
          <a:latin typeface="+mn-lt"/>
          <a:ea typeface="+mn-ea"/>
          <a:cs typeface="+mn-cs"/>
        </a:defRPr>
      </a:lvl8pPr>
      <a:lvl9pPr marL="1291694" algn="l" defTabSz="914400" rtl="0" eaLnBrk="1" latinLnBrk="0" hangingPunct="1">
        <a:defRPr sz="6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anel"/>
          <p:cNvSpPr/>
          <p:nvPr/>
        </p:nvSpPr>
        <p:spPr>
          <a:xfrm>
            <a:off x="193754" y="161462"/>
            <a:ext cx="10301262" cy="1485449"/>
          </a:xfrm>
          <a:prstGeom prst="roundRect">
            <a:avLst>
              <a:gd name="adj" fmla="val 5435"/>
            </a:avLst>
          </a:prstGeom>
          <a:solidFill>
            <a:schemeClr val="tx2"/>
          </a:solidFill>
          <a:ln w="4485">
            <a:solidFill>
              <a:schemeClr val="tx2"/>
            </a:solidFill>
            <a:prstDash val="solid"/>
          </a:ln>
        </p:spPr>
      </p:sp>
      <p:sp>
        <p:nvSpPr>
          <p:cNvPr id="3" name="Logo plate"/>
          <p:cNvSpPr/>
          <p:nvPr/>
        </p:nvSpPr>
        <p:spPr>
          <a:xfrm>
            <a:off x="387508" y="274485"/>
            <a:ext cx="1130233" cy="726578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4485">
            <a:solidFill>
              <a:schemeClr val="bg1"/>
            </a:solidFill>
            <a:prstDash val="solid"/>
          </a:ln>
        </p:spPr>
      </p:sp>
      <p:pic>
        <p:nvPicPr>
          <p:cNvPr id="4" name="University logo" descr="S.N.D.T. Women's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39" y="322924"/>
            <a:ext cx="968771" cy="617753"/>
          </a:xfrm>
          <a:prstGeom prst="rect">
            <a:avLst/>
          </a:prstGeom>
        </p:spPr>
      </p:pic>
      <p:sp>
        <p:nvSpPr>
          <p:cNvPr id="5" name="Presenters"/>
          <p:cNvSpPr txBox="1"/>
          <p:nvPr/>
        </p:nvSpPr>
        <p:spPr>
          <a:xfrm>
            <a:off x="387508" y="1049502"/>
            <a:ext cx="2325050" cy="56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1"/>
              </a:spcAft>
              <a:buNone/>
            </a:pPr>
            <a:r>
              <a:rPr sz="900" b="1" i="0" dirty="0">
                <a:solidFill>
                  <a:schemeClr val="bg1"/>
                </a:solidFill>
              </a:rPr>
              <a:t>Presented by:</a:t>
            </a:r>
            <a:endParaRPr lang="en-US" sz="848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sz="900" b="0" i="0" dirty="0">
                <a:solidFill>
                  <a:schemeClr val="bg1"/>
                </a:solidFill>
              </a:rPr>
              <a:t>Sumedha </a:t>
            </a:r>
            <a:r>
              <a:rPr sz="900" b="0" i="0" dirty="0" err="1">
                <a:solidFill>
                  <a:schemeClr val="bg1"/>
                </a:solidFill>
              </a:rPr>
              <a:t>Gamare</a:t>
            </a:r>
            <a:endParaRPr lang="en-US" sz="848" dirty="0">
              <a:solidFill>
                <a:schemeClr val="bg1"/>
              </a:solidFill>
            </a:endParaRPr>
          </a:p>
          <a:p>
            <a:pPr marL="0" indent="0">
              <a:spcAft>
                <a:spcPts val="212"/>
              </a:spcAft>
              <a:buNone/>
            </a:pPr>
            <a:r>
              <a:rPr sz="900" b="0" i="0" dirty="0">
                <a:solidFill>
                  <a:schemeClr val="bg1"/>
                </a:solidFill>
              </a:rPr>
              <a:t>Shruti Vyavahare</a:t>
            </a:r>
            <a:endParaRPr lang="en-US" sz="848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sz="900" b="1" i="0" dirty="0">
                <a:solidFill>
                  <a:schemeClr val="bg1"/>
                </a:solidFill>
              </a:rPr>
              <a:t>Guide: Prof. Sheetal Mhatre</a:t>
            </a:r>
            <a:endParaRPr lang="en-US" sz="848" dirty="0">
              <a:solidFill>
                <a:schemeClr val="bg1"/>
              </a:solidFill>
            </a:endParaRPr>
          </a:p>
        </p:txBody>
      </p:sp>
      <p:sp>
        <p:nvSpPr>
          <p:cNvPr id="6" name="Title"/>
          <p:cNvSpPr txBox="1"/>
          <p:nvPr/>
        </p:nvSpPr>
        <p:spPr>
          <a:xfrm>
            <a:off x="2809435" y="226047"/>
            <a:ext cx="5715748" cy="775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000" b="1" i="0" dirty="0">
                <a:solidFill>
                  <a:schemeClr val="bg1"/>
                </a:solidFill>
              </a:rPr>
              <a:t>3D Object Generation and Analysis</a:t>
            </a:r>
            <a:endParaRPr lang="en-US" sz="2119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sz="1400" b="0" i="0" dirty="0">
                <a:solidFill>
                  <a:schemeClr val="bg1"/>
                </a:solidFill>
              </a:rPr>
              <a:t>Using Python and Machine Learning</a:t>
            </a:r>
            <a:endParaRPr lang="en-US" sz="2119" dirty="0">
              <a:solidFill>
                <a:schemeClr val="bg1"/>
              </a:solidFill>
            </a:endParaRPr>
          </a:p>
        </p:txBody>
      </p:sp>
      <p:sp>
        <p:nvSpPr>
          <p:cNvPr id="7" name="Institute"/>
          <p:cNvSpPr txBox="1"/>
          <p:nvPr/>
        </p:nvSpPr>
        <p:spPr>
          <a:xfrm>
            <a:off x="2809435" y="1033355"/>
            <a:ext cx="5715748" cy="58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100" b="1" i="0" dirty="0">
                <a:solidFill>
                  <a:schemeClr val="bg1"/>
                </a:solidFill>
              </a:rPr>
              <a:t>Usha Mittal Institute of Technology</a:t>
            </a:r>
            <a:endParaRPr lang="en-US" sz="127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sz="1100" b="1" i="0" dirty="0">
                <a:solidFill>
                  <a:schemeClr val="bg1"/>
                </a:solidFill>
              </a:rPr>
              <a:t>S.N.D.T. Women's University</a:t>
            </a:r>
            <a:endParaRPr lang="en-US" sz="127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sz="900" b="0" i="0" dirty="0">
                <a:solidFill>
                  <a:schemeClr val="bg1"/>
                </a:solidFill>
              </a:rPr>
              <a:t>Data Science &amp; Engineering Department</a:t>
            </a:r>
            <a:endParaRPr lang="en-US" sz="1271" dirty="0">
              <a:solidFill>
                <a:schemeClr val="bg1"/>
              </a:solidFill>
            </a:endParaRPr>
          </a:p>
        </p:txBody>
      </p:sp>
      <p:sp>
        <p:nvSpPr>
          <p:cNvPr id="8" name="Date"/>
          <p:cNvSpPr txBox="1"/>
          <p:nvPr/>
        </p:nvSpPr>
        <p:spPr>
          <a:xfrm>
            <a:off x="8589767" y="484385"/>
            <a:ext cx="1743787" cy="29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 b="0" i="0" dirty="0">
                <a:solidFill>
                  <a:schemeClr val="bg1"/>
                </a:solidFill>
              </a:rPr>
              <a:t>Date: 21-10-2026</a:t>
            </a:r>
            <a:endParaRPr lang="en-US" sz="1130" dirty="0">
              <a:solidFill>
                <a:schemeClr val="bg1"/>
              </a:solidFill>
            </a:endParaRPr>
          </a:p>
        </p:txBody>
      </p:sp>
      <p:sp>
        <p:nvSpPr>
          <p:cNvPr id="9" name="Abstract banner"/>
          <p:cNvSpPr/>
          <p:nvPr/>
        </p:nvSpPr>
        <p:spPr>
          <a:xfrm>
            <a:off x="290631" y="1759934"/>
            <a:ext cx="3164651" cy="290631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4485">
            <a:solidFill>
              <a:schemeClr val="tx2"/>
            </a:solidFill>
            <a:prstDash val="solid"/>
          </a:ln>
        </p:spPr>
      </p:sp>
      <p:sp>
        <p:nvSpPr>
          <p:cNvPr id="10" name="Abstract title"/>
          <p:cNvSpPr txBox="1"/>
          <p:nvPr/>
        </p:nvSpPr>
        <p:spPr>
          <a:xfrm>
            <a:off x="290631" y="1759934"/>
            <a:ext cx="3164651" cy="29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1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1201" dirty="0"/>
          </a:p>
        </p:txBody>
      </p:sp>
      <p:sp>
        <p:nvSpPr>
          <p:cNvPr id="11" name="Abstract text"/>
          <p:cNvSpPr txBox="1"/>
          <p:nvPr/>
        </p:nvSpPr>
        <p:spPr>
          <a:xfrm>
            <a:off x="290631" y="2131296"/>
            <a:ext cx="3164651" cy="125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47"/>
              </a:spcAft>
              <a:buNone/>
            </a:pPr>
            <a:r>
              <a:rPr sz="800" b="0" i="0"/>
              <a:t>Generating a 3D model from one 2D photograph is an ill-posed computer-vision problem: depth is lost and the hidden sides are never seen. This project presents an automated web system that turns a single uploaded image (or webcam capture) into a coloured 3D mesh. Zero123++ synthesises six novel views, depth maps are estimated for all views, and a reconstruction stage (TripoSR, with a visual-hull + marching-cubes fallback) builds the mesh. The mesh is cleaned, vertex-coloured and exported as GLB for an interactive Three.js viewer. Phase-II adds quality checking, progress tracking, cancellation, e-mail alerts, analysis panels, user history and a 3D-printing workflow.</a:t>
            </a:r>
            <a:endParaRPr lang="en-US" sz="812" dirty="0"/>
          </a:p>
        </p:txBody>
      </p:sp>
      <p:sp>
        <p:nvSpPr>
          <p:cNvPr id="12" name="Introduction banner"/>
          <p:cNvSpPr/>
          <p:nvPr/>
        </p:nvSpPr>
        <p:spPr>
          <a:xfrm>
            <a:off x="290631" y="3471429"/>
            <a:ext cx="3164651" cy="290631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4485">
            <a:solidFill>
              <a:schemeClr val="tx2"/>
            </a:solidFill>
            <a:prstDash val="solid"/>
          </a:ln>
        </p:spPr>
      </p:sp>
      <p:sp>
        <p:nvSpPr>
          <p:cNvPr id="13" name="Introduction title"/>
          <p:cNvSpPr txBox="1"/>
          <p:nvPr/>
        </p:nvSpPr>
        <p:spPr>
          <a:xfrm>
            <a:off x="290631" y="3471429"/>
            <a:ext cx="3164651" cy="29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1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201" dirty="0"/>
          </a:p>
        </p:txBody>
      </p:sp>
      <p:sp>
        <p:nvSpPr>
          <p:cNvPr id="14" name="Introduction text"/>
          <p:cNvSpPr txBox="1"/>
          <p:nvPr/>
        </p:nvSpPr>
        <p:spPr>
          <a:xfrm>
            <a:off x="290631" y="3842791"/>
            <a:ext cx="3164651" cy="125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47"/>
              </a:spcAft>
              <a:buNone/>
            </a:pPr>
            <a:r>
              <a:rPr sz="800" b="0" i="0"/>
              <a:t>3D models are needed in gaming, film, architecture, robotics, e-commerce, medical imaging and AR. Multi-view stereo needs dozens of calibrated photos, and structured-light or LiDAR scanners are costly and complex. Deep learning changes this: diffusion models synthesise consistent novel views from one image, transformers estimate depth from any photo, and large reconstruction models regress geometry directly. This project combines them into a practical, open pipeline that runs locally and gives non-technical users an interactive, downloadable 3D model from a single photograph.</a:t>
            </a:r>
            <a:endParaRPr lang="en-US" sz="812" dirty="0"/>
          </a:p>
        </p:txBody>
      </p:sp>
      <p:sp>
        <p:nvSpPr>
          <p:cNvPr id="15" name="Literature Survey banner"/>
          <p:cNvSpPr/>
          <p:nvPr/>
        </p:nvSpPr>
        <p:spPr>
          <a:xfrm>
            <a:off x="290631" y="5182924"/>
            <a:ext cx="3164651" cy="290631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4485">
            <a:solidFill>
              <a:schemeClr val="tx2"/>
            </a:solidFill>
            <a:prstDash val="solid"/>
          </a:ln>
        </p:spPr>
      </p:sp>
      <p:sp>
        <p:nvSpPr>
          <p:cNvPr id="16" name="Literature Survey title"/>
          <p:cNvSpPr txBox="1"/>
          <p:nvPr/>
        </p:nvSpPr>
        <p:spPr>
          <a:xfrm>
            <a:off x="290631" y="5182924"/>
            <a:ext cx="3164651" cy="29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1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1201" dirty="0"/>
          </a:p>
        </p:txBody>
      </p:sp>
      <p:sp>
        <p:nvSpPr>
          <p:cNvPr id="17" name="Literature text"/>
          <p:cNvSpPr txBox="1"/>
          <p:nvPr/>
        </p:nvSpPr>
        <p:spPr>
          <a:xfrm>
            <a:off x="290631" y="5554286"/>
            <a:ext cx="3164651" cy="171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Ranftl et al. [3] - DPT: Vision-Transformer backbone with dense heads for depth estimation.</a:t>
            </a:r>
            <a:endParaRPr lang="en-US" sz="777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Liu et al. [4] - Zero-1-to-3: diffusion model giving zero-shot novel views from one image.</a:t>
            </a:r>
            <a:endParaRPr lang="en-US" sz="777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Shi et al. [5] - Zero123++: six consistent views in a single denoising pass; used here.</a:t>
            </a:r>
            <a:endParaRPr lang="en-US" sz="777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Hong et al. [6] - LRM: transformer that maps images straight to a 3D triplane.</a:t>
            </a:r>
            <a:endParaRPr lang="en-US" sz="777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Xu et al. [7] - InstantMesh: LRM + FlexiCubes meshes from six views; our planned upgrade.</a:t>
            </a:r>
            <a:endParaRPr lang="en-US" sz="777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Lorensen &amp; Cline [8] - Marching Cubes: triangle surfaces from volumetric data; used in the fallback.</a:t>
            </a:r>
            <a:endParaRPr lang="en-US" sz="777" dirty="0"/>
          </a:p>
        </p:txBody>
      </p:sp>
      <p:sp>
        <p:nvSpPr>
          <p:cNvPr id="18" name="Implementation banner"/>
          <p:cNvSpPr/>
          <p:nvPr/>
        </p:nvSpPr>
        <p:spPr>
          <a:xfrm>
            <a:off x="3649037" y="1759934"/>
            <a:ext cx="3390698" cy="290631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4485">
            <a:solidFill>
              <a:schemeClr val="tx2"/>
            </a:solidFill>
            <a:prstDash val="solid"/>
          </a:ln>
        </p:spPr>
      </p:sp>
      <p:sp>
        <p:nvSpPr>
          <p:cNvPr id="19" name="Implementation title"/>
          <p:cNvSpPr txBox="1"/>
          <p:nvPr/>
        </p:nvSpPr>
        <p:spPr>
          <a:xfrm>
            <a:off x="3649037" y="1759934"/>
            <a:ext cx="3390698" cy="29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1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/ Results</a:t>
            </a:r>
            <a:endParaRPr lang="en-US" sz="1201" dirty="0"/>
          </a:p>
        </p:txBody>
      </p:sp>
      <p:sp>
        <p:nvSpPr>
          <p:cNvPr id="20" name="Implementation text"/>
          <p:cNvSpPr txBox="1"/>
          <p:nvPr/>
        </p:nvSpPr>
        <p:spPr>
          <a:xfrm>
            <a:off x="3649037" y="2131296"/>
            <a:ext cx="3390698" cy="968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System: web app with a Python backend running the ML pipeline and a Three.js viewer in the browser.</a:t>
            </a:r>
            <a:endParaRPr lang="en-US" sz="812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Layers: Frontend (HTML/CSS/JS) -&gt; Backend API (upload, progress, cancel, SQLite history) -&gt; Processing pipeline.</a:t>
            </a:r>
            <a:endParaRPr lang="en-US" sz="812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Input: image upload or webcam capture, checked for resolution, brightness and contrast.</a:t>
            </a:r>
            <a:endParaRPr lang="en-US" sz="812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Output: coloured mesh as GLB, plus STL / 3MF for 3D printing.</a:t>
            </a:r>
            <a:endParaRPr lang="en-US" sz="812" dirty="0"/>
          </a:p>
        </p:txBody>
      </p:sp>
      <p:sp>
        <p:nvSpPr>
          <p:cNvPr id="21" name="Pipeline step 1"/>
          <p:cNvSpPr txBox="1"/>
          <p:nvPr/>
        </p:nvSpPr>
        <p:spPr>
          <a:xfrm>
            <a:off x="3649037" y="3196944"/>
            <a:ext cx="1614618" cy="232505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538" rIns="538" bIns="0" rtlCol="0" anchor="ctr"/>
          <a:lstStyle/>
          <a:p>
            <a:pPr marL="0" indent="0" algn="l">
              <a:buNone/>
            </a:pPr>
            <a:r>
              <a:rPr lang="en-US" sz="671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Background removal (rembg) + crop</a:t>
            </a:r>
            <a:endParaRPr lang="en-US" sz="671" dirty="0"/>
          </a:p>
        </p:txBody>
      </p:sp>
      <p:sp>
        <p:nvSpPr>
          <p:cNvPr id="22" name="Arrow 1"/>
          <p:cNvSpPr/>
          <p:nvPr/>
        </p:nvSpPr>
        <p:spPr>
          <a:xfrm flipV="1">
            <a:off x="4407907" y="3442365"/>
            <a:ext cx="96877" cy="38751"/>
          </a:xfrm>
          <a:prstGeom prst="triangle">
            <a:avLst/>
          </a:prstGeom>
          <a:solidFill>
            <a:schemeClr val="accent3"/>
          </a:solidFill>
          <a:ln w="4485">
            <a:solidFill>
              <a:schemeClr val="accent3"/>
            </a:solidFill>
            <a:prstDash val="solid"/>
          </a:ln>
        </p:spPr>
      </p:sp>
      <p:sp>
        <p:nvSpPr>
          <p:cNvPr id="23" name="Pipeline step 2"/>
          <p:cNvSpPr txBox="1"/>
          <p:nvPr/>
        </p:nvSpPr>
        <p:spPr>
          <a:xfrm>
            <a:off x="3649037" y="3494033"/>
            <a:ext cx="1614618" cy="232505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538" rIns="538" bIns="0" rtlCol="0" anchor="ctr"/>
          <a:lstStyle/>
          <a:p>
            <a:pPr marL="0" indent="0" algn="l">
              <a:buNone/>
            </a:pPr>
            <a:r>
              <a:rPr lang="en-US" sz="671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Zero123++  →  6 novel views</a:t>
            </a:r>
            <a:endParaRPr lang="en-US" sz="671" dirty="0"/>
          </a:p>
        </p:txBody>
      </p:sp>
      <p:sp>
        <p:nvSpPr>
          <p:cNvPr id="24" name="Arrow 2"/>
          <p:cNvSpPr/>
          <p:nvPr/>
        </p:nvSpPr>
        <p:spPr>
          <a:xfrm flipV="1">
            <a:off x="4407907" y="3739455"/>
            <a:ext cx="96877" cy="38751"/>
          </a:xfrm>
          <a:prstGeom prst="triangle">
            <a:avLst/>
          </a:prstGeom>
          <a:solidFill>
            <a:schemeClr val="accent3"/>
          </a:solidFill>
          <a:ln w="4485">
            <a:solidFill>
              <a:schemeClr val="accent3"/>
            </a:solidFill>
            <a:prstDash val="solid"/>
          </a:ln>
        </p:spPr>
      </p:sp>
      <p:sp>
        <p:nvSpPr>
          <p:cNvPr id="25" name="Pipeline step 3"/>
          <p:cNvSpPr txBox="1"/>
          <p:nvPr/>
        </p:nvSpPr>
        <p:spPr>
          <a:xfrm>
            <a:off x="3649037" y="3791123"/>
            <a:ext cx="1614618" cy="232505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538" rIns="538" bIns="0" rtlCol="0" anchor="ctr"/>
          <a:lstStyle/>
          <a:p>
            <a:pPr marL="0" indent="0" algn="l">
              <a:buNone/>
            </a:pPr>
            <a:r>
              <a:rPr lang="en-US" sz="671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Depth estimation  →  7 depth maps</a:t>
            </a:r>
            <a:endParaRPr lang="en-US" sz="671" dirty="0"/>
          </a:p>
        </p:txBody>
      </p:sp>
      <p:sp>
        <p:nvSpPr>
          <p:cNvPr id="26" name="Arrow 3"/>
          <p:cNvSpPr/>
          <p:nvPr/>
        </p:nvSpPr>
        <p:spPr>
          <a:xfrm flipV="1">
            <a:off x="4407907" y="4036545"/>
            <a:ext cx="96877" cy="38751"/>
          </a:xfrm>
          <a:prstGeom prst="triangle">
            <a:avLst/>
          </a:prstGeom>
          <a:solidFill>
            <a:schemeClr val="accent3"/>
          </a:solidFill>
          <a:ln w="4485">
            <a:solidFill>
              <a:schemeClr val="accent3"/>
            </a:solidFill>
            <a:prstDash val="solid"/>
          </a:ln>
        </p:spPr>
      </p:sp>
      <p:sp>
        <p:nvSpPr>
          <p:cNvPr id="27" name="Pipeline step 4"/>
          <p:cNvSpPr txBox="1"/>
          <p:nvPr/>
        </p:nvSpPr>
        <p:spPr>
          <a:xfrm>
            <a:off x="3649037" y="4088213"/>
            <a:ext cx="1614618" cy="232505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538" rIns="538" bIns="0" rtlCol="0" anchor="ctr"/>
          <a:lstStyle/>
          <a:p>
            <a:pPr marL="0" indent="0" algn="l">
              <a:buNone/>
            </a:pPr>
            <a:r>
              <a:rPr lang="en-US" sz="671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Mesh reconstruction (TripoSR / visual hull)</a:t>
            </a:r>
            <a:endParaRPr lang="en-US" sz="671" dirty="0"/>
          </a:p>
        </p:txBody>
      </p:sp>
      <p:sp>
        <p:nvSpPr>
          <p:cNvPr id="28" name="Arrow 4"/>
          <p:cNvSpPr/>
          <p:nvPr/>
        </p:nvSpPr>
        <p:spPr>
          <a:xfrm flipV="1">
            <a:off x="4407907" y="4333635"/>
            <a:ext cx="96877" cy="38751"/>
          </a:xfrm>
          <a:prstGeom prst="triangle">
            <a:avLst/>
          </a:prstGeom>
          <a:solidFill>
            <a:schemeClr val="accent3"/>
          </a:solidFill>
          <a:ln w="4485">
            <a:solidFill>
              <a:schemeClr val="accent3"/>
            </a:solidFill>
            <a:prstDash val="solid"/>
          </a:ln>
        </p:spPr>
      </p:sp>
      <p:sp>
        <p:nvSpPr>
          <p:cNvPr id="29" name="Pipeline step 5"/>
          <p:cNvSpPr txBox="1"/>
          <p:nvPr/>
        </p:nvSpPr>
        <p:spPr>
          <a:xfrm>
            <a:off x="3649037" y="4385302"/>
            <a:ext cx="1614618" cy="232505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538" rIns="538" bIns="0" rtlCol="0" anchor="ctr"/>
          <a:lstStyle/>
          <a:p>
            <a:pPr marL="0" indent="0" algn="l">
              <a:buNone/>
            </a:pPr>
            <a:r>
              <a:rPr lang="en-US" sz="671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Cleanup: decimate, smooth, fill holes</a:t>
            </a:r>
            <a:endParaRPr lang="en-US" sz="671" dirty="0"/>
          </a:p>
        </p:txBody>
      </p:sp>
      <p:sp>
        <p:nvSpPr>
          <p:cNvPr id="30" name="Arrow 5"/>
          <p:cNvSpPr/>
          <p:nvPr/>
        </p:nvSpPr>
        <p:spPr>
          <a:xfrm flipV="1">
            <a:off x="4407907" y="4630724"/>
            <a:ext cx="96877" cy="38751"/>
          </a:xfrm>
          <a:prstGeom prst="triangle">
            <a:avLst/>
          </a:prstGeom>
          <a:solidFill>
            <a:schemeClr val="accent3"/>
          </a:solidFill>
          <a:ln w="4485">
            <a:solidFill>
              <a:schemeClr val="accent3"/>
            </a:solidFill>
            <a:prstDash val="solid"/>
          </a:ln>
        </p:spPr>
      </p:sp>
      <p:sp>
        <p:nvSpPr>
          <p:cNvPr id="31" name="Pipeline step 6"/>
          <p:cNvSpPr txBox="1"/>
          <p:nvPr/>
        </p:nvSpPr>
        <p:spPr>
          <a:xfrm>
            <a:off x="3649037" y="4682392"/>
            <a:ext cx="1614618" cy="232505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538" rIns="538" bIns="0" rtlCol="0" anchor="ctr"/>
          <a:lstStyle/>
          <a:p>
            <a:pPr marL="0" indent="0" algn="l">
              <a:buNone/>
            </a:pPr>
            <a:r>
              <a:rPr lang="en-US" sz="671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Vertex-colour projection from views</a:t>
            </a:r>
            <a:endParaRPr lang="en-US" sz="671" dirty="0"/>
          </a:p>
        </p:txBody>
      </p:sp>
      <p:sp>
        <p:nvSpPr>
          <p:cNvPr id="32" name="Arrow 6"/>
          <p:cNvSpPr/>
          <p:nvPr/>
        </p:nvSpPr>
        <p:spPr>
          <a:xfrm flipV="1">
            <a:off x="4407907" y="4927814"/>
            <a:ext cx="96877" cy="38751"/>
          </a:xfrm>
          <a:prstGeom prst="triangle">
            <a:avLst/>
          </a:prstGeom>
          <a:solidFill>
            <a:schemeClr val="accent3"/>
          </a:solidFill>
          <a:ln w="4485">
            <a:solidFill>
              <a:schemeClr val="accent3"/>
            </a:solidFill>
            <a:prstDash val="solid"/>
          </a:ln>
        </p:spPr>
      </p:sp>
      <p:sp>
        <p:nvSpPr>
          <p:cNvPr id="33" name="Pipeline step 7"/>
          <p:cNvSpPr txBox="1"/>
          <p:nvPr/>
        </p:nvSpPr>
        <p:spPr>
          <a:xfrm>
            <a:off x="3649037" y="4979482"/>
            <a:ext cx="1614618" cy="232505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solidFill>
              <a:schemeClr val="tx2"/>
            </a:solidFill>
          </a:ln>
        </p:spPr>
        <p:txBody>
          <a:bodyPr wrap="square" lIns="0" tIns="538" rIns="538" bIns="0" rtlCol="0" anchor="ctr"/>
          <a:lstStyle/>
          <a:p>
            <a:pPr marL="0" indent="0" algn="l">
              <a:buNone/>
            </a:pPr>
            <a:r>
              <a:rPr lang="en-US" sz="671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GLB export  →  Three.js viewer</a:t>
            </a:r>
            <a:endParaRPr lang="en-US" sz="671" dirty="0"/>
          </a:p>
        </p:txBody>
      </p:sp>
      <p:sp>
        <p:nvSpPr>
          <p:cNvPr id="34" name="Fig 1 caption"/>
          <p:cNvSpPr txBox="1"/>
          <p:nvPr/>
        </p:nvSpPr>
        <p:spPr>
          <a:xfrm>
            <a:off x="3649037" y="5250738"/>
            <a:ext cx="1614618" cy="12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6" b="1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1: Processing pipeline</a:t>
            </a:r>
            <a:endParaRPr lang="en-US" sz="636" dirty="0"/>
          </a:p>
        </p:txBody>
      </p:sp>
      <p:sp>
        <p:nvSpPr>
          <p:cNvPr id="35" name="Table 1 caption"/>
          <p:cNvSpPr txBox="1"/>
          <p:nvPr/>
        </p:nvSpPr>
        <p:spPr>
          <a:xfrm>
            <a:off x="5360532" y="3196944"/>
            <a:ext cx="1679203" cy="12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6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Representative results</a:t>
            </a:r>
            <a:endParaRPr lang="en-US" sz="636" dirty="0"/>
          </a:p>
        </p:txBody>
      </p:sp>
      <p:graphicFrame>
        <p:nvGraphicFramePr>
          <p:cNvPr id="36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0532" y="3358405"/>
          <a:ext cx="1679202" cy="710432"/>
        </p:xfrm>
        <a:graphic>
          <a:graphicData uri="http://schemas.openxmlformats.org/drawingml/2006/table">
            <a:tbl>
              <a:tblPr/>
              <a:tblGrid>
                <a:gridCol w="484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7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917" marR="12917" marT="12917" marB="12917" anchor="ctr">
                    <a:lnL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(s)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917" marR="12917" marT="12917" marB="12917" anchor="ctr">
                    <a:lnL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917" marR="12917" marT="12917" marB="12917" anchor="ctr">
                    <a:lnL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917" marR="12917" marT="12917" marB="12917" anchor="ctr">
                    <a:lnL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 dragon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917" marR="12917" marT="12917" marB="12917" anchor="ctr">
                    <a:lnL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1553.8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917" marR="12917" marT="12917" marB="12917" anchor="ctr">
                    <a:lnL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77,726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917" marR="12917" marT="12917" marB="12917" anchor="ctr">
                    <a:lnL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155,464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917" marR="12917" marT="12917" marB="12917" anchor="ctr">
                    <a:lnL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Knife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917" marR="12917" marT="12917" marB="12917" anchor="ctr">
                    <a:lnL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775.1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917" marR="12917" marT="12917" marB="12917" anchor="ctr">
                    <a:lnL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19,418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917" marR="12917" marT="12917" marB="12917" anchor="ctr">
                    <a:lnL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38,832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917" marR="12917" marT="12917" marB="12917" anchor="ctr">
                    <a:lnL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Strawberry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917" marR="12917" marT="12917" marB="12917" anchor="ctr">
                    <a:lnL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878.9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917" marR="12917" marT="12917" marB="12917" anchor="ctr">
                    <a:lnL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90,582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917" marR="12917" marT="12917" marB="12917" anchor="ctr">
                    <a:lnL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181,188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917" marR="12917" marT="12917" marB="12917" anchor="ctr">
                    <a:lnL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64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etup text"/>
          <p:cNvSpPr txBox="1"/>
          <p:nvPr/>
        </p:nvSpPr>
        <p:spPr>
          <a:xfrm>
            <a:off x="5360532" y="4133422"/>
            <a:ext cx="1679203" cy="109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6"/>
              </a:spcAft>
              <a:buNone/>
            </a:pPr>
            <a:r>
              <a:rPr sz="750" b="1" i="0"/>
              <a:t>Run statistics</a:t>
            </a:r>
            <a:endParaRPr lang="en-US" sz="706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750" b="0" i="0"/>
              <a:t>75 runs total, 39 with a 3D mesh</a:t>
            </a:r>
            <a:endParaRPr lang="en-US" sz="706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750" b="0" i="0"/>
              <a:t>Avg 586.4 s (range: 74-1553 s)</a:t>
            </a:r>
            <a:endParaRPr lang="en-US" sz="706" dirty="0"/>
          </a:p>
          <a:p>
            <a:pPr marL="0" indent="0" algn="l">
              <a:spcAft>
                <a:spcPts val="106"/>
              </a:spcAft>
              <a:buNone/>
            </a:pPr>
            <a:r>
              <a:rPr sz="750" b="1" i="0"/>
              <a:t>Setup</a:t>
            </a:r>
            <a:endParaRPr lang="en-US" sz="706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750" b="0" i="0"/>
              <a:t>Core i5, 16 GB RAM, 6 GB NVIDIA GPU</a:t>
            </a:r>
            <a:endParaRPr lang="en-US" sz="706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750" b="0" i="0"/>
              <a:t>Python 3.11, PyTorch, Diffusers, trimesh</a:t>
            </a:r>
            <a:endParaRPr lang="en-US" sz="706" dirty="0"/>
          </a:p>
        </p:txBody>
      </p:sp>
      <p:pic>
        <p:nvPicPr>
          <p:cNvPr id="38" name="Fig 2 viewer screenshot" descr="Reconstructed strawberry mesh shown in the TriGenix 3D view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9037" y="5438033"/>
            <a:ext cx="3390698" cy="1567248"/>
          </a:xfrm>
          <a:prstGeom prst="rect">
            <a:avLst/>
          </a:prstGeom>
        </p:spPr>
      </p:pic>
      <p:sp>
        <p:nvSpPr>
          <p:cNvPr id="39" name="Fig 2 caption"/>
          <p:cNvSpPr txBox="1"/>
          <p:nvPr/>
        </p:nvSpPr>
        <p:spPr>
          <a:xfrm>
            <a:off x="3649037" y="7037574"/>
            <a:ext cx="3390698" cy="12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700" b="0" i="1"/>
              <a:t>Fig 2: Strawberry - masked input, depth map &amp; novel view  (90,582 vertices, 181,188 faces)</a:t>
            </a:r>
            <a:endParaRPr lang="en-US" sz="636" dirty="0"/>
          </a:p>
        </p:txBody>
      </p:sp>
      <p:sp>
        <p:nvSpPr>
          <p:cNvPr id="40" name="Discussion banner"/>
          <p:cNvSpPr/>
          <p:nvPr/>
        </p:nvSpPr>
        <p:spPr>
          <a:xfrm>
            <a:off x="7233488" y="1759934"/>
            <a:ext cx="3164651" cy="290631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4485">
            <a:solidFill>
              <a:schemeClr val="tx2"/>
            </a:solidFill>
            <a:prstDash val="solid"/>
          </a:ln>
        </p:spPr>
      </p:sp>
      <p:sp>
        <p:nvSpPr>
          <p:cNvPr id="41" name="Discussion title"/>
          <p:cNvSpPr txBox="1"/>
          <p:nvPr/>
        </p:nvSpPr>
        <p:spPr>
          <a:xfrm>
            <a:off x="7233488" y="1759934"/>
            <a:ext cx="3164651" cy="29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1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1201" dirty="0"/>
          </a:p>
        </p:txBody>
      </p:sp>
      <p:sp>
        <p:nvSpPr>
          <p:cNvPr id="42" name="Discussion text"/>
          <p:cNvSpPr txBox="1"/>
          <p:nvPr/>
        </p:nvSpPr>
        <p:spPr>
          <a:xfrm>
            <a:off x="7233488" y="2131296"/>
            <a:ext cx="3164651" cy="206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6"/>
              </a:spcAft>
              <a:buNone/>
            </a:pPr>
            <a:r>
              <a:rPr sz="800" b="1" i="0"/>
              <a:t>1. Interpretation</a:t>
            </a:r>
            <a:endParaRPr lang="en-US" sz="812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One photo becomes a coloured, watertight mesh viewable in any browser.</a:t>
            </a:r>
            <a:endParaRPr lang="en-US" sz="812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Six synthesised views reduce the guesswork about hidden sides.</a:t>
            </a:r>
            <a:endParaRPr lang="en-US" sz="812" dirty="0"/>
          </a:p>
          <a:p>
            <a:pPr marL="0" indent="0" algn="l">
              <a:spcAft>
                <a:spcPts val="106"/>
              </a:spcAft>
              <a:buNone/>
            </a:pPr>
            <a:r>
              <a:rPr sz="800" b="1" i="0"/>
              <a:t>2. Literature comparison</a:t>
            </a:r>
            <a:endParaRPr lang="en-US" sz="812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TripoSR is fast but hallucinates unseen surfaces; photogrammetry needs 50-200 photos; scanners need special hardware; web services are paid and closed.</a:t>
            </a:r>
            <a:endParaRPr lang="en-US" sz="812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Ours is open, runs locally and adds progress, quality and analysis tools.</a:t>
            </a:r>
            <a:endParaRPr lang="en-US" sz="812" dirty="0"/>
          </a:p>
          <a:p>
            <a:pPr marL="0" indent="0" algn="l">
              <a:spcAft>
                <a:spcPts val="106"/>
              </a:spcAft>
              <a:buNone/>
            </a:pPr>
            <a:r>
              <a:rPr sz="800" b="1" i="0"/>
              <a:t>3. Analysis</a:t>
            </a:r>
            <a:endParaRPr lang="en-US" sz="812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39 of 51 runs (76.5%) produced a mesh; average 586.4 s per run.</a:t>
            </a:r>
            <a:endParaRPr lang="en-US" sz="812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Time grows with detail: under 400 s to over 1550 s per object.</a:t>
            </a:r>
            <a:endParaRPr lang="en-US" sz="812" dirty="0"/>
          </a:p>
          <a:p>
            <a:pPr marL="0" indent="0" algn="l">
              <a:spcAft>
                <a:spcPts val="106"/>
              </a:spcAft>
              <a:buNone/>
            </a:pPr>
            <a:r>
              <a:rPr sz="800" b="1" i="0"/>
              <a:t>4. Significance</a:t>
            </a:r>
            <a:endParaRPr lang="en-US" sz="812" dirty="0"/>
          </a:p>
          <a:p>
            <a:pPr marL="89701" indent="-89701" algn="l">
              <a:spcAft>
                <a:spcPts val="212"/>
              </a:spcAft>
              <a:buSzPct val="100000"/>
              <a:buChar char="•"/>
            </a:pPr>
            <a:r>
              <a:rPr sz="800" b="0" i="0"/>
              <a:t>Low-cost 3D content for e-commerce, games/VR, AR, medical models, 3D printing and robotics simulation.</a:t>
            </a:r>
            <a:endParaRPr lang="en-US" sz="812" dirty="0"/>
          </a:p>
        </p:txBody>
      </p:sp>
      <p:sp>
        <p:nvSpPr>
          <p:cNvPr id="43" name="Conclusion banner"/>
          <p:cNvSpPr/>
          <p:nvPr/>
        </p:nvSpPr>
        <p:spPr>
          <a:xfrm>
            <a:off x="7233488" y="4262591"/>
            <a:ext cx="3164651" cy="290631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4485">
            <a:solidFill>
              <a:schemeClr val="tx2"/>
            </a:solidFill>
            <a:prstDash val="solid"/>
          </a:ln>
        </p:spPr>
      </p:sp>
      <p:sp>
        <p:nvSpPr>
          <p:cNvPr id="44" name="Conclusion title"/>
          <p:cNvSpPr txBox="1"/>
          <p:nvPr/>
        </p:nvSpPr>
        <p:spPr>
          <a:xfrm>
            <a:off x="7233488" y="4262591"/>
            <a:ext cx="3164651" cy="29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1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201" dirty="0"/>
          </a:p>
        </p:txBody>
      </p:sp>
      <p:sp>
        <p:nvSpPr>
          <p:cNvPr id="45" name="Conclusion text"/>
          <p:cNvSpPr txBox="1"/>
          <p:nvPr/>
        </p:nvSpPr>
        <p:spPr>
          <a:xfrm>
            <a:off x="7233488" y="4633953"/>
            <a:ext cx="3164651" cy="103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47"/>
              </a:spcAft>
              <a:buNone/>
            </a:pPr>
            <a:r>
              <a:rPr sz="800" b="0" i="0"/>
              <a:t>A fully automated system now turns a single photograph into an interactive, coloured 3D model using Zero123++, depth estimation and mesh reconstruction, with login, history, multi-format export and a 3D-printing workflow. Future work: make InstantMesh the default to cut generation time, add multi-GPU processing, WebXR/Unity links and a mobile app.</a:t>
            </a:r>
            <a:endParaRPr lang="en-US" sz="812" dirty="0"/>
          </a:p>
        </p:txBody>
      </p:sp>
      <p:sp>
        <p:nvSpPr>
          <p:cNvPr id="46" name="References banner"/>
          <p:cNvSpPr/>
          <p:nvPr/>
        </p:nvSpPr>
        <p:spPr>
          <a:xfrm>
            <a:off x="7233488" y="5513455"/>
            <a:ext cx="3164651" cy="290631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4485">
            <a:solidFill>
              <a:schemeClr val="tx2"/>
            </a:solidFill>
            <a:prstDash val="solid"/>
          </a:ln>
        </p:spPr>
      </p:sp>
      <p:sp>
        <p:nvSpPr>
          <p:cNvPr id="47" name="References title"/>
          <p:cNvSpPr txBox="1"/>
          <p:nvPr/>
        </p:nvSpPr>
        <p:spPr>
          <a:xfrm>
            <a:off x="7233488" y="5513455"/>
            <a:ext cx="3164651" cy="29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1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201" dirty="0"/>
          </a:p>
        </p:txBody>
      </p:sp>
      <p:sp>
        <p:nvSpPr>
          <p:cNvPr id="48" name="References text"/>
          <p:cNvSpPr txBox="1"/>
          <p:nvPr/>
        </p:nvSpPr>
        <p:spPr>
          <a:xfrm>
            <a:off x="7233488" y="5868671"/>
            <a:ext cx="3164651" cy="125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1"/>
              </a:spcAft>
              <a:buNone/>
            </a:pPr>
            <a:r>
              <a:rPr sz="750" b="0" i="0"/>
              <a:t>[1] D. Eigen et al., "Depth map prediction from a single image using a multi-scale deep network," NeurIPS, 2014.</a:t>
            </a:r>
            <a:endParaRPr lang="en-US" sz="618" dirty="0"/>
          </a:p>
          <a:p>
            <a:pPr marL="0" indent="0" algn="l">
              <a:spcAft>
                <a:spcPts val="141"/>
              </a:spcAft>
              <a:buNone/>
            </a:pPr>
            <a:r>
              <a:rPr sz="750" b="0" i="0"/>
              <a:t>[2] B. Mildenhall et al., "NeRF: Representing scenes as neural radiance fields for view synthesis," ECCV, 2020.</a:t>
            </a:r>
            <a:endParaRPr lang="en-US" sz="618" dirty="0"/>
          </a:p>
          <a:p>
            <a:pPr marL="0" indent="0" algn="l">
              <a:spcAft>
                <a:spcPts val="141"/>
              </a:spcAft>
              <a:buNone/>
            </a:pPr>
            <a:r>
              <a:rPr sz="750" b="0" i="0"/>
              <a:t>[3] R. Ranftl et al., "Vision transformers for dense prediction," ICCV, 2021.</a:t>
            </a:r>
            <a:endParaRPr lang="en-US" sz="618" dirty="0"/>
          </a:p>
          <a:p>
            <a:pPr marL="0" indent="0" algn="l">
              <a:spcAft>
                <a:spcPts val="141"/>
              </a:spcAft>
              <a:buNone/>
            </a:pPr>
            <a:r>
              <a:rPr sz="750" b="0" i="0"/>
              <a:t>[4] R. Liu et al., "Zero-1-to-3: Zero-shot one image to 3D object," ICCV, 2023.</a:t>
            </a:r>
            <a:endParaRPr lang="en-US" sz="618" dirty="0"/>
          </a:p>
          <a:p>
            <a:pPr marL="0" indent="0" algn="l">
              <a:spcAft>
                <a:spcPts val="141"/>
              </a:spcAft>
              <a:buNone/>
            </a:pPr>
            <a:r>
              <a:rPr sz="750" b="0" i="0"/>
              <a:t>[5] R. Shi et al., "Zero123++: A single image to consistent multi-view diffusion base model," arXiv:2310.15110, 2023.</a:t>
            </a:r>
            <a:endParaRPr lang="en-US" sz="618" dirty="0"/>
          </a:p>
          <a:p>
            <a:pPr marL="0" indent="0" algn="l">
              <a:spcAft>
                <a:spcPts val="141"/>
              </a:spcAft>
              <a:buNone/>
            </a:pPr>
            <a:r>
              <a:rPr sz="750" b="0" i="0"/>
              <a:t>[6] Y. Hong et al., "LRM: Large reconstruction model for single image to 3D," ICLR, 2024.</a:t>
            </a:r>
            <a:endParaRPr lang="en-US" sz="618" dirty="0"/>
          </a:p>
          <a:p>
            <a:pPr marL="0" indent="0" algn="l">
              <a:spcAft>
                <a:spcPts val="141"/>
              </a:spcAft>
              <a:buNone/>
            </a:pPr>
            <a:r>
              <a:rPr sz="750" b="0" i="0"/>
              <a:t>[7] J. Xu et al., "InstantMesh: Efficient 3D mesh generation from a single image," arXiv:2404.07191, 2024.</a:t>
            </a:r>
            <a:endParaRPr lang="en-US" sz="618" dirty="0"/>
          </a:p>
          <a:p>
            <a:pPr marL="0" indent="0" algn="l">
              <a:spcAft>
                <a:spcPts val="141"/>
              </a:spcAft>
              <a:buNone/>
            </a:pPr>
            <a:r>
              <a:rPr sz="750" b="0" i="0"/>
              <a:t>[8] W. E. Lorensen and H. E. Cline, "Marching Cubes," ACM SIGGRAPH, vol. 21, no. 4, 1987.</a:t>
            </a:r>
            <a:endParaRPr lang="en-US" sz="618" dirty="0"/>
          </a:p>
        </p:txBody>
      </p:sp>
      <p:pic>
        <p:nvPicPr>
          <p:cNvPr id="49" name="Picture 48" descr="runtime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0532" y="4087702"/>
            <a:ext cx="1724923" cy="11436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riGenix Navy Poster">
  <a:themeElements>
    <a:clrScheme name="TriGenix Navy Poster">
      <a:dk1>
        <a:srgbClr val="10172F"/>
      </a:dk1>
      <a:lt1>
        <a:srgbClr val="FFFFFF"/>
      </a:lt1>
      <a:dk2>
        <a:srgbClr val="1B2A6B"/>
      </a:dk2>
      <a:lt2>
        <a:srgbClr val="E9EDF9"/>
      </a:lt2>
      <a:accent1>
        <a:srgbClr val="1B2A6B"/>
      </a:accent1>
      <a:accent2>
        <a:srgbClr val="34479B"/>
      </a:accent2>
      <a:accent3>
        <a:srgbClr val="8FA3E6"/>
      </a:accent3>
      <a:accent4>
        <a:srgbClr val="0D1647"/>
      </a:accent4>
      <a:accent5>
        <a:srgbClr val="5B6FC4"/>
      </a:accent5>
      <a:accent6>
        <a:srgbClr val="C7D2F5"/>
      </a:accent6>
      <a:hlink>
        <a:srgbClr val="34479B"/>
      </a:hlink>
      <a:folHlink>
        <a:srgbClr val="5B6FC4"/>
      </a:folHlink>
    </a:clrScheme>
    <a:fontScheme name="TriGenix Navy Pos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1022</Words>
  <Application>Microsoft Office PowerPoint</Application>
  <PresentationFormat>Custom</PresentationFormat>
  <Paragraphs>82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TriGenix Navy Poster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Object Generation and Analysis Using Python and Machine Learning</dc:title>
  <dc:subject>PptxGenJS Presentation</dc:subject>
  <dc:creator>Sumedha Gamare, Shruti Vyavahare</dc:creator>
  <cp:lastModifiedBy>shruti v</cp:lastModifiedBy>
  <cp:revision>2</cp:revision>
  <dcterms:created xsi:type="dcterms:W3CDTF">2026-10-16T05:08:33Z</dcterms:created>
  <dcterms:modified xsi:type="dcterms:W3CDTF">2026-10-16T06:30:32Z</dcterms:modified>
</cp:coreProperties>
</file>