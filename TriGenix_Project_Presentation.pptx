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100080"/>
          </a:solidFill>
          <a:ln>
            <a:solidFill>
              <a:srgbClr val="100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78040" y="219456"/>
            <a:ext cx="5013655" cy="6638544"/>
          </a:xfrm>
          <a:prstGeom prst="rect">
            <a:avLst/>
          </a:prstGeom>
          <a:solidFill>
            <a:srgbClr val="F4F4FA"/>
          </a:solidFill>
          <a:ln>
            <a:solidFill>
              <a:srgbClr val="F4F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umt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21792"/>
            <a:ext cx="1051560" cy="67665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1572768"/>
            <a:ext cx="603504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200" b="1" i="0">
                <a:solidFill>
                  <a:srgbClr val="100080"/>
                </a:solidFill>
                <a:latin typeface="Aptos"/>
              </a:rPr>
              <a:t>TriGenix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2376" y="2331720"/>
            <a:ext cx="5943600" cy="8412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 i="0">
                <a:solidFill>
                  <a:srgbClr val="19182D"/>
                </a:solidFill>
                <a:latin typeface="Aptos"/>
              </a:rPr>
              <a:t>3D Object Generation and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376" y="3246120"/>
            <a:ext cx="566928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5E6075"/>
                </a:solidFill>
                <a:latin typeface="Aptos"/>
              </a:rPr>
              <a:t>Single-image reconstruction with Python and machine learning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722376" y="4114800"/>
            <a:ext cx="5440680" cy="54864"/>
          </a:xfrm>
          <a:prstGeom prst="rect">
            <a:avLst/>
          </a:prstGeom>
          <a:solidFill>
            <a:srgbClr val="2626A0"/>
          </a:solidFill>
          <a:ln>
            <a:solidFill>
              <a:srgbClr val="262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2376" y="4370832"/>
            <a:ext cx="5669280" cy="7772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19182D"/>
                </a:solidFill>
                <a:latin typeface="Aptos"/>
              </a:rPr>
              <a:t>A browser-based pipeline that turns one photograph into a coloured, inspectable 3D mesh.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" y="5486400"/>
            <a:ext cx="5852160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5E6075"/>
                </a:solidFill>
                <a:latin typeface="Aptos"/>
              </a:rPr>
              <a:t>Sumedha Gamare  ·  Shruti Vyavahare</a:t>
            </a:r>
          </a:p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5E6075"/>
                </a:solidFill>
                <a:latin typeface="Aptos"/>
              </a:rPr>
              <a:t>Data Science &amp; Engineering Department  ·  Usha Mittal Institute of Technology</a:t>
            </a:r>
          </a:p>
        </p:txBody>
      </p:sp>
      <p:pic>
        <p:nvPicPr>
          <p:cNvPr id="11" name="Picture 10" descr="presentation_he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3568" y="1005840"/>
            <a:ext cx="3337560" cy="43891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909560" y="5596128"/>
            <a:ext cx="33832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 i="0">
                <a:solidFill>
                  <a:srgbClr val="100080"/>
                </a:solidFill>
                <a:latin typeface="Aptos"/>
              </a:rPr>
              <a:t>SAMPLE OUTPUT  ·  STRAWBERRY MESH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00080"/>
          </a:solidFill>
          <a:ln>
            <a:solidFill>
              <a:srgbClr val="100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804672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Aptos"/>
              </a:rP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73736"/>
            <a:ext cx="365760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1" i="0">
                <a:solidFill>
                  <a:srgbClr val="D8D9F0"/>
                </a:solidFill>
                <a:latin typeface="Aptos"/>
              </a:rPr>
              <a:t>PROBLEM  /  OBJECTIVE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64008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1" i="0">
                <a:solidFill>
                  <a:srgbClr val="5E6075"/>
                </a:solidFill>
                <a:latin typeface="Aptos"/>
              </a:rPr>
              <a:t>TRIGENIX  ·  3D OBJECT GENERATION AND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19672"/>
            <a:ext cx="5486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E6075"/>
                </a:solidFill>
                <a:latin typeface="Aptos"/>
              </a:rPr>
              <a:t>02 / 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960120"/>
            <a:ext cx="516636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2626A0"/>
                </a:solidFill>
                <a:latin typeface="Aptos"/>
              </a:rPr>
              <a:t>WHY SINGLE-IMAGE 3D IS HARD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1389888"/>
            <a:ext cx="5074920" cy="342900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>
              <a:spcAft>
                <a:spcPts val="1500"/>
              </a:spcAft>
            </a:pPr>
            <a:r>
              <a:rPr sz="1700">
                <a:solidFill>
                  <a:srgbClr val="19182D"/>
                </a:solidFill>
                <a:latin typeface="Aptos"/>
              </a:rPr>
              <a:t>•  A photograph gives no direct measurement of depth or hidden surfaces.</a:t>
            </a:r>
          </a:p>
          <a:p>
            <a:pPr>
              <a:spcAft>
                <a:spcPts val="1500"/>
              </a:spcAft>
            </a:pPr>
            <a:r>
              <a:rPr sz="1700">
                <a:solidFill>
                  <a:srgbClr val="19182D"/>
                </a:solidFill>
                <a:latin typeface="Aptos"/>
              </a:rPr>
              <a:t>•  Multi-view reconstruction needs many calibrated images; scanners add cost and equipment.</a:t>
            </a:r>
          </a:p>
          <a:p>
            <a:pPr>
              <a:spcAft>
                <a:spcPts val="1500"/>
              </a:spcAft>
            </a:pPr>
            <a:r>
              <a:rPr sz="1700">
                <a:solidFill>
                  <a:srgbClr val="19182D"/>
                </a:solidFill>
                <a:latin typeface="Aptos"/>
              </a:rPr>
              <a:t>•  Learned models can infer plausible geometry, but unseen details remain uncertain.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960120"/>
            <a:ext cx="5440680" cy="4480560"/>
          </a:xfrm>
          <a:prstGeom prst="roundRect">
            <a:avLst/>
          </a:prstGeom>
          <a:solidFill>
            <a:srgbClr val="F4F4FA"/>
          </a:solidFill>
          <a:ln>
            <a:solidFill>
              <a:srgbClr val="E4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261872"/>
            <a:ext cx="475488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2626A0"/>
                </a:solidFill>
                <a:latin typeface="Aptos"/>
              </a:rPr>
              <a:t>PROJECT AIM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737360"/>
            <a:ext cx="4663440" cy="10515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100080"/>
                </a:solidFill>
                <a:latin typeface="Aptos"/>
              </a:rPr>
              <a:t>Automate image-to-mesh generation in a local web app, then let users inspect and export the result.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3154680"/>
            <a:ext cx="4663440" cy="1691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9182D"/>
                </a:solidFill>
                <a:latin typeface="Aptos"/>
              </a:rPr>
              <a:t>INPUT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9182D"/>
                </a:solidFill>
                <a:latin typeface="Aptos"/>
              </a:rPr>
              <a:t>One uploaded image or webcam capture</a:t>
            </a: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9182D"/>
                </a:solidFill>
                <a:latin typeface="Aptos"/>
              </a:rPr>
              <a:t>OUTPUT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9182D"/>
                </a:solidFill>
                <a:latin typeface="Aptos"/>
              </a:rPr>
              <a:t>A coloured GLB mesh, browser preview, and STL / 3MF print exports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" y="5257800"/>
            <a:ext cx="10945368" cy="713232"/>
          </a:xfrm>
          <a:prstGeom prst="roundRect">
            <a:avLst/>
          </a:prstGeom>
          <a:solidFill>
            <a:srgbClr val="100080"/>
          </a:solidFill>
          <a:ln>
            <a:solidFill>
              <a:srgbClr val="100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5404104"/>
            <a:ext cx="10424160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Aptos"/>
              </a:rPr>
              <a:t>Goal: make model generation, quality checks, and print preparation accessible from one workflow.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00080"/>
          </a:solidFill>
          <a:ln>
            <a:solidFill>
              <a:srgbClr val="100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804672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Aptos"/>
              </a:rPr>
              <a:t>Related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73736"/>
            <a:ext cx="365760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1" i="0">
                <a:solidFill>
                  <a:srgbClr val="D8D9F0"/>
                </a:solidFill>
                <a:latin typeface="Aptos"/>
              </a:rPr>
              <a:t>RESEARCH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64008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1" i="0">
                <a:solidFill>
                  <a:srgbClr val="5E6075"/>
                </a:solidFill>
                <a:latin typeface="Aptos"/>
              </a:rPr>
              <a:t>TRIGENIX  ·  3D OBJECT GENERATION AND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19672"/>
            <a:ext cx="5486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E6075"/>
                </a:solidFill>
                <a:latin typeface="Aptos"/>
              </a:rPr>
              <a:t>03 / 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042415"/>
            <a:ext cx="3520440" cy="1920240"/>
          </a:xfrm>
          <a:prstGeom prst="roundRect">
            <a:avLst/>
          </a:prstGeom>
          <a:solidFill>
            <a:srgbClr val="F4F4FA"/>
          </a:solidFill>
          <a:ln>
            <a:solidFill>
              <a:srgbClr val="E5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" y="1042415"/>
            <a:ext cx="3520440" cy="109728"/>
          </a:xfrm>
          <a:prstGeom prst="rect">
            <a:avLst/>
          </a:prstGeom>
          <a:solidFill>
            <a:srgbClr val="2626A0"/>
          </a:solidFill>
          <a:ln>
            <a:solidFill>
              <a:srgbClr val="262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316736"/>
            <a:ext cx="31546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100080"/>
                </a:solidFill>
                <a:latin typeface="Aptos"/>
              </a:rPr>
              <a:t>DEPTH FROM ONE IMAGE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1700784"/>
            <a:ext cx="31546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2626A0"/>
                </a:solidFill>
                <a:latin typeface="Aptos"/>
              </a:rPr>
              <a:t>Eigen et al. · 2014 · [1]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048256"/>
            <a:ext cx="3154680" cy="7498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9182D"/>
                </a:solidFill>
                <a:latin typeface="Aptos"/>
              </a:rPr>
              <a:t>A coarse-to-fine network predicts depth from a single image. Single-view depth still has scale and hidden-surface ambiguity.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042415"/>
            <a:ext cx="3520440" cy="1920240"/>
          </a:xfrm>
          <a:prstGeom prst="roundRect">
            <a:avLst/>
          </a:prstGeom>
          <a:solidFill>
            <a:srgbClr val="F4F4FA"/>
          </a:solidFill>
          <a:ln>
            <a:solidFill>
              <a:srgbClr val="E5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042415"/>
            <a:ext cx="3520440" cy="109728"/>
          </a:xfrm>
          <a:prstGeom prst="rect">
            <a:avLst/>
          </a:prstGeom>
          <a:solidFill>
            <a:srgbClr val="159A84"/>
          </a:solidFill>
          <a:ln>
            <a:solidFill>
              <a:srgbClr val="159A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316736"/>
            <a:ext cx="31546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100080"/>
                </a:solidFill>
                <a:latin typeface="Aptos"/>
              </a:rPr>
              <a:t>CONSISTENT NOVEL VIEWS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1700784"/>
            <a:ext cx="31546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159A84"/>
                </a:solidFill>
                <a:latin typeface="Aptos"/>
              </a:rPr>
              <a:t>Shi et al. · 2023 · [2]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2048256"/>
            <a:ext cx="3154680" cy="7498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9182D"/>
                </a:solidFill>
                <a:latin typeface="Aptos"/>
              </a:rPr>
              <a:t>Zero123++ uses image-conditioned diffusion to generate a consistent multi-view set from one input view.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65008" y="1042415"/>
            <a:ext cx="3520440" cy="1920240"/>
          </a:xfrm>
          <a:prstGeom prst="roundRect">
            <a:avLst/>
          </a:prstGeom>
          <a:solidFill>
            <a:srgbClr val="F4F4FA"/>
          </a:solidFill>
          <a:ln>
            <a:solidFill>
              <a:srgbClr val="E5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65008" y="1042415"/>
            <a:ext cx="3520440" cy="109728"/>
          </a:xfrm>
          <a:prstGeom prst="rect">
            <a:avLst/>
          </a:prstGeom>
          <a:solidFill>
            <a:srgbClr val="3B4CB5"/>
          </a:solidFill>
          <a:ln>
            <a:solidFill>
              <a:srgbClr val="3B4C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47888" y="1316736"/>
            <a:ext cx="31546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100080"/>
                </a:solidFill>
                <a:latin typeface="Aptos"/>
              </a:rPr>
              <a:t>LEARNED 3D RECONSTRUCTION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7888" y="1700784"/>
            <a:ext cx="31546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3B4CB5"/>
                </a:solidFill>
                <a:latin typeface="Aptos"/>
              </a:rPr>
              <a:t>Hong et al. · 2023 · [3]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47888" y="2048256"/>
            <a:ext cx="3154680" cy="7498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9182D"/>
                </a:solidFill>
                <a:latin typeface="Aptos"/>
              </a:rPr>
              <a:t>LRM predicts a neural radiance field from one image with a large transformer-based reconstruction model.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487168" y="3246120"/>
            <a:ext cx="3520440" cy="1920240"/>
          </a:xfrm>
          <a:prstGeom prst="roundRect">
            <a:avLst/>
          </a:prstGeom>
          <a:solidFill>
            <a:srgbClr val="F4F4FA"/>
          </a:solidFill>
          <a:ln>
            <a:solidFill>
              <a:srgbClr val="E5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487168" y="3246120"/>
            <a:ext cx="3520440" cy="109728"/>
          </a:xfrm>
          <a:prstGeom prst="rect">
            <a:avLst/>
          </a:prstGeom>
          <a:solidFill>
            <a:srgbClr val="159A84"/>
          </a:solidFill>
          <a:ln>
            <a:solidFill>
              <a:srgbClr val="159A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670048" y="3520439"/>
            <a:ext cx="31546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100080"/>
                </a:solidFill>
                <a:latin typeface="Aptos"/>
              </a:rPr>
              <a:t>SINGLE-IMAGE MESHING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70048" y="3904487"/>
            <a:ext cx="31546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159A84"/>
                </a:solidFill>
                <a:latin typeface="Aptos"/>
              </a:rPr>
              <a:t>Xu et al. · 2024 · [4]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70048" y="4251960"/>
            <a:ext cx="3154680" cy="7498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9182D"/>
                </a:solidFill>
                <a:latin typeface="Aptos"/>
              </a:rPr>
              <a:t>InstantMesh combines generated views with sparse-view reconstruction and differentiable mesh extraction.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8776" y="3246120"/>
            <a:ext cx="3520440" cy="1920240"/>
          </a:xfrm>
          <a:prstGeom prst="roundRect">
            <a:avLst/>
          </a:prstGeom>
          <a:solidFill>
            <a:srgbClr val="F4F4FA"/>
          </a:solidFill>
          <a:ln>
            <a:solidFill>
              <a:srgbClr val="E5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8776" y="3246120"/>
            <a:ext cx="3520440" cy="109728"/>
          </a:xfrm>
          <a:prstGeom prst="rect">
            <a:avLst/>
          </a:prstGeom>
          <a:solidFill>
            <a:srgbClr val="2626A0"/>
          </a:solidFill>
          <a:ln>
            <a:solidFill>
              <a:srgbClr val="262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91656" y="3520439"/>
            <a:ext cx="31546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100080"/>
                </a:solidFill>
                <a:latin typeface="Aptos"/>
              </a:rPr>
              <a:t>SURFACE EXTRACTION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91656" y="3904487"/>
            <a:ext cx="31546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2626A0"/>
                </a:solidFill>
                <a:latin typeface="Aptos"/>
              </a:rPr>
              <a:t>Lorensen &amp; Cline · 1987 · [5]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91656" y="4251960"/>
            <a:ext cx="3154680" cy="7498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9182D"/>
                </a:solidFill>
                <a:latin typeface="Aptos"/>
              </a:rPr>
              <a:t>Marching Cubes extracts triangle surfaces from volumetric data and relates to the project’s fallback route.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" y="5541264"/>
            <a:ext cx="10945368" cy="502920"/>
          </a:xfrm>
          <a:prstGeom prst="roundRect">
            <a:avLst/>
          </a:prstGeom>
          <a:solidFill>
            <a:srgbClr val="E9EAF7"/>
          </a:solidFill>
          <a:ln>
            <a:solidFill>
              <a:srgbClr val="E9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" y="5641848"/>
            <a:ext cx="1051560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20" b="1" i="0">
                <a:solidFill>
                  <a:srgbClr val="100080"/>
                </a:solidFill>
                <a:latin typeface="Aptos"/>
              </a:rPr>
              <a:t>TriGenix connects view synthesis, depth estimation, mesh reconstruction, browser inspection, and print export.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00080"/>
          </a:solidFill>
          <a:ln>
            <a:solidFill>
              <a:srgbClr val="100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804672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Aptos"/>
              </a:rPr>
              <a:t>System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73736"/>
            <a:ext cx="365760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1" i="0">
                <a:solidFill>
                  <a:srgbClr val="D8D9F0"/>
                </a:solidFill>
                <a:latin typeface="Aptos"/>
              </a:rPr>
              <a:t>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64008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1" i="0">
                <a:solidFill>
                  <a:srgbClr val="5E6075"/>
                </a:solidFill>
                <a:latin typeface="Aptos"/>
              </a:rPr>
              <a:t>TRIGENIX  ·  3D OBJECT GENERATION AND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19672"/>
            <a:ext cx="5486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E6075"/>
                </a:solidFill>
                <a:latin typeface="Aptos"/>
              </a:rPr>
              <a:t>04 / 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417320"/>
            <a:ext cx="1700784" cy="1554480"/>
          </a:xfrm>
          <a:prstGeom prst="roundRect">
            <a:avLst/>
          </a:prstGeom>
          <a:solidFill>
            <a:srgbClr val="100080"/>
          </a:solidFill>
          <a:ln>
            <a:solidFill>
              <a:srgbClr val="100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554480"/>
            <a:ext cx="4114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D7D7F2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1892808"/>
            <a:ext cx="1481328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Aptos"/>
              </a:rPr>
              <a:t>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" y="2295144"/>
            <a:ext cx="1481328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Aptos"/>
              </a:rPr>
              <a:t>Upload or webcam</a:t>
            </a:r>
          </a:p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Aptos"/>
              </a:rPr>
              <a:t>Resolution / contrast checks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2075688"/>
            <a:ext cx="24688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 i="0">
                <a:solidFill>
                  <a:srgbClr val="159A84"/>
                </a:solidFill>
                <a:latin typeface="Aptos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51176" y="1417320"/>
            <a:ext cx="1700784" cy="1554480"/>
          </a:xfrm>
          <a:prstGeom prst="roundRect">
            <a:avLst/>
          </a:prstGeom>
          <a:solidFill>
            <a:srgbClr val="2626A0"/>
          </a:solidFill>
          <a:ln>
            <a:solidFill>
              <a:srgbClr val="262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88336" y="1554480"/>
            <a:ext cx="4114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D7D7F2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60904" y="1892808"/>
            <a:ext cx="1481328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Aptos"/>
              </a:rPr>
              <a:t>PREPARE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60904" y="2295144"/>
            <a:ext cx="1481328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Aptos"/>
              </a:rPr>
              <a:t>Background mask</a:t>
            </a:r>
          </a:p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Aptos"/>
              </a:rPr>
              <a:t>Subject crop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70248" y="2075688"/>
            <a:ext cx="24688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 i="0">
                <a:solidFill>
                  <a:srgbClr val="159A84"/>
                </a:solidFill>
                <a:latin typeface="Aptos"/>
              </a:rPr>
              <a:t>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35424" y="1417320"/>
            <a:ext cx="1700784" cy="1554480"/>
          </a:xfrm>
          <a:prstGeom prst="roundRect">
            <a:avLst/>
          </a:prstGeom>
          <a:solidFill>
            <a:srgbClr val="3B4CB5"/>
          </a:solidFill>
          <a:ln>
            <a:solidFill>
              <a:srgbClr val="3B4C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72584" y="1554480"/>
            <a:ext cx="4114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D7D7F2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45152" y="1892808"/>
            <a:ext cx="1481328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Aptos"/>
              </a:rPr>
              <a:t>SYNTHESIZE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45152" y="2295144"/>
            <a:ext cx="1481328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Aptos"/>
              </a:rPr>
              <a:t>Zero123++</a:t>
            </a:r>
          </a:p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Aptos"/>
              </a:rPr>
              <a:t>6 novel views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54496" y="2075688"/>
            <a:ext cx="24688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 i="0">
                <a:solidFill>
                  <a:srgbClr val="159A84"/>
                </a:solidFill>
                <a:latin typeface="Aptos"/>
              </a:rPr>
              <a:t>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19672" y="1417320"/>
            <a:ext cx="1700784" cy="1554480"/>
          </a:xfrm>
          <a:prstGeom prst="roundRect">
            <a:avLst/>
          </a:prstGeom>
          <a:solidFill>
            <a:srgbClr val="100080"/>
          </a:solidFill>
          <a:ln>
            <a:solidFill>
              <a:srgbClr val="100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56832" y="1554480"/>
            <a:ext cx="4114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D7D7F2"/>
                </a:solidFill>
                <a:latin typeface="Apto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1892808"/>
            <a:ext cx="1481328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Aptos"/>
              </a:rPr>
              <a:t>ESTIMATE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2295144"/>
            <a:ext cx="1481328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Aptos"/>
              </a:rPr>
              <a:t>Depth model</a:t>
            </a:r>
          </a:p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Aptos"/>
              </a:rPr>
              <a:t>7 depth maps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38744" y="2075688"/>
            <a:ext cx="24688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 i="0">
                <a:solidFill>
                  <a:srgbClr val="159A84"/>
                </a:solidFill>
                <a:latin typeface="Aptos"/>
              </a:rPr>
              <a:t>›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503919" y="1417320"/>
            <a:ext cx="1700784" cy="1554480"/>
          </a:xfrm>
          <a:prstGeom prst="roundRect">
            <a:avLst/>
          </a:prstGeom>
          <a:solidFill>
            <a:srgbClr val="3B4CB5"/>
          </a:solidFill>
          <a:ln>
            <a:solidFill>
              <a:srgbClr val="3B4C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41080" y="1554480"/>
            <a:ext cx="4114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D7D7F2"/>
                </a:solidFill>
                <a:latin typeface="Aptos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13647" y="1892808"/>
            <a:ext cx="1481328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Aptos"/>
              </a:rPr>
              <a:t>RECONSTRUCT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13647" y="2295144"/>
            <a:ext cx="1481328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Aptos"/>
              </a:rPr>
              <a:t>TripoSR mesh</a:t>
            </a:r>
          </a:p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Aptos"/>
              </a:rPr>
              <a:t>Visual-hull fallback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22991" y="2075688"/>
            <a:ext cx="24688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 i="0">
                <a:solidFill>
                  <a:srgbClr val="159A84"/>
                </a:solidFill>
                <a:latin typeface="Aptos"/>
              </a:rPr>
              <a:t>›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488167" y="1417320"/>
            <a:ext cx="1700784" cy="1554480"/>
          </a:xfrm>
          <a:prstGeom prst="roundRect">
            <a:avLst/>
          </a:prstGeom>
          <a:solidFill>
            <a:srgbClr val="100080"/>
          </a:solidFill>
          <a:ln>
            <a:solidFill>
              <a:srgbClr val="100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625328" y="1554480"/>
            <a:ext cx="4114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D7D7F2"/>
                </a:solidFill>
                <a:latin typeface="Aptos"/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97895" y="1892808"/>
            <a:ext cx="1481328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Aptos"/>
              </a:rPr>
              <a:t>DELIVER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97895" y="2295144"/>
            <a:ext cx="1481328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Aptos"/>
              </a:rPr>
              <a:t>Repair + colour</a:t>
            </a:r>
          </a:p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Aptos"/>
              </a:rPr>
              <a:t>GLB / STL / 3MF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3401568"/>
            <a:ext cx="521208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2626A0"/>
                </a:solidFill>
                <a:latin typeface="Aptos"/>
              </a:rPr>
              <a:t>WEB APPLICATION LAYERS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" y="3822191"/>
            <a:ext cx="3520440" cy="1234440"/>
          </a:xfrm>
          <a:prstGeom prst="roundRect">
            <a:avLst/>
          </a:prstGeom>
          <a:solidFill>
            <a:srgbClr val="F4F4FA"/>
          </a:solidFill>
          <a:ln>
            <a:solidFill>
              <a:srgbClr val="E4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58368" y="3822191"/>
            <a:ext cx="73152" cy="1234440"/>
          </a:xfrm>
          <a:prstGeom prst="rect">
            <a:avLst/>
          </a:prstGeom>
          <a:solidFill>
            <a:srgbClr val="2626A0"/>
          </a:solidFill>
          <a:ln>
            <a:solidFill>
              <a:srgbClr val="262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9536" y="3968496"/>
            <a:ext cx="317296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00080"/>
                </a:solidFill>
                <a:latin typeface="Aptos"/>
              </a:rPr>
              <a:t>Frontend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9536" y="4325112"/>
            <a:ext cx="3154680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9182D"/>
                </a:solidFill>
                <a:latin typeface="Aptos"/>
              </a:rPr>
              <a:t>HTML / CSS / JavaScript with a Three.js model viewer.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343400" y="3822191"/>
            <a:ext cx="3520440" cy="1234440"/>
          </a:xfrm>
          <a:prstGeom prst="roundRect">
            <a:avLst/>
          </a:prstGeom>
          <a:solidFill>
            <a:srgbClr val="F4F4FA"/>
          </a:solidFill>
          <a:ln>
            <a:solidFill>
              <a:srgbClr val="E4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343400" y="3822191"/>
            <a:ext cx="73152" cy="1234440"/>
          </a:xfrm>
          <a:prstGeom prst="rect">
            <a:avLst/>
          </a:prstGeom>
          <a:solidFill>
            <a:srgbClr val="159A84"/>
          </a:solidFill>
          <a:ln>
            <a:solidFill>
              <a:srgbClr val="159A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44568" y="3968496"/>
            <a:ext cx="317296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00080"/>
                </a:solidFill>
                <a:latin typeface="Aptos"/>
              </a:rPr>
              <a:t>Backend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44568" y="4325112"/>
            <a:ext cx="3154680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9182D"/>
                </a:solidFill>
                <a:latin typeface="Aptos"/>
              </a:rPr>
              <a:t>Python API manages uploads, job progress, cancellation, and pipeline execution.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028431" y="3822191"/>
            <a:ext cx="3520440" cy="1234440"/>
          </a:xfrm>
          <a:prstGeom prst="roundRect">
            <a:avLst/>
          </a:prstGeom>
          <a:solidFill>
            <a:srgbClr val="F4F4FA"/>
          </a:solidFill>
          <a:ln>
            <a:solidFill>
              <a:srgbClr val="E4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028431" y="3822191"/>
            <a:ext cx="73152" cy="1234440"/>
          </a:xfrm>
          <a:prstGeom prst="rect">
            <a:avLst/>
          </a:prstGeom>
          <a:solidFill>
            <a:srgbClr val="3B4CB5"/>
          </a:solidFill>
          <a:ln>
            <a:solidFill>
              <a:srgbClr val="3B4C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29600" y="3968496"/>
            <a:ext cx="317296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00080"/>
                </a:solidFill>
                <a:latin typeface="Aptos"/>
              </a:rPr>
              <a:t>User services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29600" y="4325112"/>
            <a:ext cx="3154680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9182D"/>
                </a:solidFill>
                <a:latin typeface="Aptos"/>
              </a:rPr>
              <a:t>SQLite history, quality panels, accounts, and an optional print workflow.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5800" y="5440680"/>
            <a:ext cx="107899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100080"/>
                </a:solidFill>
                <a:latin typeface="Aptos"/>
              </a:rPr>
              <a:t>Output files: GLB for interactive viewing; STL and 3MF for downstream 3D-printing workflows.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00080"/>
          </a:solidFill>
          <a:ln>
            <a:solidFill>
              <a:srgbClr val="100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804672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Aptos"/>
              </a:rPr>
              <a:t>Run outcomes and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73736"/>
            <a:ext cx="365760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1" i="0">
                <a:solidFill>
                  <a:srgbClr val="D8D9F0"/>
                </a:solidFill>
                <a:latin typeface="Aptos"/>
              </a:rPr>
              <a:t>RECORDED PROJECT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64008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1" i="0">
                <a:solidFill>
                  <a:srgbClr val="5E6075"/>
                </a:solidFill>
                <a:latin typeface="Aptos"/>
              </a:rPr>
              <a:t>TRIGENIX  ·  3D OBJECT GENERATION AND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19672"/>
            <a:ext cx="5486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E6075"/>
                </a:solidFill>
                <a:latin typeface="Aptos"/>
              </a:rPr>
              <a:t>05 / 07</a:t>
            </a:r>
          </a:p>
        </p:txBody>
      </p:sp>
      <p:pic>
        <p:nvPicPr>
          <p:cNvPr id="7" name="Picture 6" descr="presentation_outcom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43000"/>
            <a:ext cx="4892040" cy="3063240"/>
          </a:xfrm>
          <a:prstGeom prst="rect">
            <a:avLst/>
          </a:prstGeom>
        </p:spPr>
      </p:pic>
      <p:pic>
        <p:nvPicPr>
          <p:cNvPr id="8" name="Picture 7" descr="presentation_runtime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0448" y="1143000"/>
            <a:ext cx="5623560" cy="30632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85800" y="4526280"/>
            <a:ext cx="10808208" cy="960120"/>
          </a:xfrm>
          <a:prstGeom prst="roundRect">
            <a:avLst/>
          </a:prstGeom>
          <a:solidFill>
            <a:srgbClr val="F4F4FA"/>
          </a:solidFill>
          <a:ln>
            <a:solidFill>
              <a:srgbClr val="E4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709160"/>
            <a:ext cx="26060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0080"/>
                </a:solidFill>
                <a:latin typeface="Aptos"/>
              </a:rPr>
              <a:t>57/76  ·  75%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4690872"/>
            <a:ext cx="196596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9182D"/>
                </a:solidFill>
                <a:latin typeface="Aptos"/>
              </a:rPr>
              <a:t>runs with a mesh recorded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70448" y="4709160"/>
            <a:ext cx="246888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100080"/>
                </a:solidFill>
                <a:latin typeface="Aptos"/>
              </a:rPr>
              <a:t>592.4 s average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85632" y="4690872"/>
            <a:ext cx="2651760" cy="5120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9182D"/>
                </a:solidFill>
                <a:latin typeface="Aptos"/>
              </a:rPr>
              <a:t>Median 601.3 s  ·  range 73.7–1154.0 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779008"/>
            <a:ext cx="10515600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 i="1">
                <a:solidFill>
                  <a:srgbClr val="5E6075"/>
                </a:solidFill>
                <a:latin typeface="Aptos"/>
              </a:rPr>
              <a:t>Outcome counts measure mesh generation completion, not geometric accuracy. No reference-mesh benchmark is recorded.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00080"/>
          </a:solidFill>
          <a:ln>
            <a:solidFill>
              <a:srgbClr val="100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804672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Aptos"/>
              </a:rPr>
              <a:t>Example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73736"/>
            <a:ext cx="365760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1" i="0">
                <a:solidFill>
                  <a:srgbClr val="D8D9F0"/>
                </a:solidFill>
                <a:latin typeface="Aptos"/>
              </a:rPr>
              <a:t>GENERATION #79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64008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1" i="0">
                <a:solidFill>
                  <a:srgbClr val="5E6075"/>
                </a:solidFill>
                <a:latin typeface="Aptos"/>
              </a:rPr>
              <a:t>TRIGENIX  ·  3D OBJECT GENERATION AND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19672"/>
            <a:ext cx="5486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E6075"/>
                </a:solidFill>
                <a:latin typeface="Aptos"/>
              </a:rPr>
              <a:t>06 / 07</a:t>
            </a:r>
          </a:p>
        </p:txBody>
      </p:sp>
      <p:pic>
        <p:nvPicPr>
          <p:cNvPr id="7" name="Picture 6" descr="trigenix_viewer_tripty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115568"/>
            <a:ext cx="7360920" cy="336499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211312" y="1115568"/>
            <a:ext cx="3355848" cy="3364992"/>
          </a:xfrm>
          <a:prstGeom prst="roundRect">
            <a:avLst/>
          </a:prstGeom>
          <a:solidFill>
            <a:srgbClr val="F4F4FA"/>
          </a:solidFill>
          <a:ln>
            <a:solidFill>
              <a:srgbClr val="E3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58200" y="1371600"/>
            <a:ext cx="27432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2626A0"/>
                </a:solidFill>
                <a:latin typeface="Aptos"/>
              </a:rPr>
              <a:t>SAMPLE RUN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1783080"/>
            <a:ext cx="2880360" cy="219456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19182D"/>
                </a:solidFill>
                <a:latin typeface="Aptos"/>
              </a:rPr>
              <a:t>•  Method: triposr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9182D"/>
                </a:solidFill>
                <a:latin typeface="Aptos"/>
              </a:rPr>
              <a:t>•  Processing: 591.2 s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9182D"/>
                </a:solidFill>
                <a:latin typeface="Aptos"/>
              </a:rPr>
              <a:t>•  Vertices: 90,582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9182D"/>
                </a:solidFill>
                <a:latin typeface="Aptos"/>
              </a:rPr>
              <a:t>•  Faces: 181,188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9182D"/>
                </a:solidFill>
                <a:latin typeface="Aptos"/>
              </a:rPr>
              <a:t>•  Views / depth maps: 6 / 7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9182D"/>
                </a:solidFill>
                <a:latin typeface="Aptos"/>
              </a:rPr>
              <a:t>•  Print-ready: Yes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9182D"/>
                </a:solidFill>
                <a:latin typeface="Aptos"/>
              </a:rPr>
              <a:t>•  STL exported: Yes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4800600"/>
            <a:ext cx="10972800" cy="914400"/>
          </a:xfrm>
          <a:prstGeom prst="roundRect">
            <a:avLst/>
          </a:prstGeom>
          <a:solidFill>
            <a:srgbClr val="100080"/>
          </a:solidFill>
          <a:ln>
            <a:solidFill>
              <a:srgbClr val="100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4956048"/>
            <a:ext cx="10469880" cy="521207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Aptos"/>
              </a:rPr>
              <a:t>Viewer quality panel: geometry, surface, topology and texture 100; completeness 8; overall 82. These are application scores, not benchmark accuracy measurements.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925312"/>
            <a:ext cx="1060704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0" i="1">
                <a:solidFill>
                  <a:srgbClr val="5E6075"/>
                </a:solidFill>
                <a:latin typeface="Aptos"/>
              </a:rPr>
              <a:t>Thin, hidden, or incomplete geometry still needs visual inspection before printing.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00080"/>
          </a:solidFill>
          <a:ln>
            <a:solidFill>
              <a:srgbClr val="100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804672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Aptos"/>
              </a:rPr>
              <a:t>Conclusion and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73736"/>
            <a:ext cx="365760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1" i="0">
                <a:solidFill>
                  <a:srgbClr val="D8D9F0"/>
                </a:solidFill>
                <a:latin typeface="Aptos"/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64008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1" i="0">
                <a:solidFill>
                  <a:srgbClr val="5E6075"/>
                </a:solidFill>
                <a:latin typeface="Aptos"/>
              </a:rPr>
              <a:t>TRIGENIX  ·  3D OBJECT GENERATION AND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19672"/>
            <a:ext cx="5486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E6075"/>
                </a:solidFill>
                <a:latin typeface="Aptos"/>
              </a:rPr>
              <a:t>07 / 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" y="987552"/>
            <a:ext cx="4096512" cy="5248656"/>
          </a:xfrm>
          <a:prstGeom prst="roundRect">
            <a:avLst/>
          </a:prstGeom>
          <a:solidFill>
            <a:srgbClr val="F4F4FA"/>
          </a:solidFill>
          <a:ln>
            <a:solidFill>
              <a:srgbClr val="E4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261872"/>
            <a:ext cx="347472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2626A0"/>
                </a:solidFill>
                <a:latin typeface="Aptos"/>
              </a:rPr>
              <a:t>WHAT THE PROJECT DELIVERS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37360"/>
            <a:ext cx="3529584" cy="233172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>
              <a:spcAft>
                <a:spcPts val="1000"/>
              </a:spcAft>
            </a:pPr>
            <a:r>
              <a:rPr sz="1300">
                <a:solidFill>
                  <a:srgbClr val="19182D"/>
                </a:solidFill>
                <a:latin typeface="Aptos"/>
              </a:rPr>
              <a:t>•  A local, browser-based pipeline from one image to a coloured 3D mesh.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19182D"/>
                </a:solidFill>
                <a:latin typeface="Aptos"/>
              </a:rPr>
              <a:t>•  Interactive inspection, run history, quality checks, and multi-format export.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19182D"/>
                </a:solidFill>
                <a:latin typeface="Aptos"/>
              </a:rPr>
              <a:t>•  Print preparation alongside a web viewer.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4224528"/>
            <a:ext cx="34290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2626A0"/>
                </a:solidFill>
                <a:latin typeface="Aptos"/>
              </a:rPr>
              <a:t>NEXT STEPS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599432"/>
            <a:ext cx="3529584" cy="123444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>
              <a:spcAft>
                <a:spcPts val="700"/>
              </a:spcAft>
            </a:pPr>
            <a:r>
              <a:rPr sz="1200">
                <a:solidFill>
                  <a:srgbClr val="19182D"/>
                </a:solidFill>
                <a:latin typeface="Aptos"/>
              </a:rPr>
              <a:t>•  Benchmark against reference scans and compare reconstruction methods.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19182D"/>
                </a:solidFill>
                <a:latin typeface="Aptos"/>
              </a:rPr>
              <a:t>•  Evaluate InstantMesh, multi-GPU processing, and WebXR / Unity links.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74920" y="1078992"/>
            <a:ext cx="635508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2626A0"/>
                </a:solidFill>
                <a:latin typeface="Aptos"/>
              </a:rPr>
              <a:t>REFERENCES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1508760"/>
            <a:ext cx="6400800" cy="4498848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>
              <a:spcAft>
                <a:spcPts val="1000"/>
              </a:spcAft>
            </a:pPr>
            <a:r>
              <a:rPr sz="1210">
                <a:solidFill>
                  <a:srgbClr val="19182D"/>
                </a:solidFill>
                <a:latin typeface="Aptos"/>
              </a:rPr>
              <a:t>•  [1] D. Eigen, C. Puhrsch, and R. Fergus. “Depth Map Prediction from a Single Image Using a Multi-Scale Deep Network.” NeurIPS, 2014.</a:t>
            </a:r>
          </a:p>
          <a:p>
            <a:pPr>
              <a:spcAft>
                <a:spcPts val="1000"/>
              </a:spcAft>
            </a:pPr>
            <a:r>
              <a:rPr sz="1210">
                <a:solidFill>
                  <a:srgbClr val="19182D"/>
                </a:solidFill>
                <a:latin typeface="Aptos"/>
              </a:rPr>
              <a:t>•  [2] R. Shi et al. “Zero123++: A Single Image to Consistent Multi-view Diffusion Base Model.” arXiv:2310.15110, 2023.</a:t>
            </a:r>
          </a:p>
          <a:p>
            <a:pPr>
              <a:spcAft>
                <a:spcPts val="1000"/>
              </a:spcAft>
            </a:pPr>
            <a:r>
              <a:rPr sz="1210">
                <a:solidFill>
                  <a:srgbClr val="19182D"/>
                </a:solidFill>
                <a:latin typeface="Aptos"/>
              </a:rPr>
              <a:t>•  [3] Y. Hong et al. “LRM: Large Reconstruction Model for Single Image to 3D.” arXiv:2311.04400, 2023.</a:t>
            </a:r>
          </a:p>
          <a:p>
            <a:pPr>
              <a:spcAft>
                <a:spcPts val="1000"/>
              </a:spcAft>
            </a:pPr>
            <a:r>
              <a:rPr sz="1210">
                <a:solidFill>
                  <a:srgbClr val="19182D"/>
                </a:solidFill>
                <a:latin typeface="Aptos"/>
              </a:rPr>
              <a:t>•  [4] J. Xu et al. “InstantMesh: Efficient 3D Mesh Generation from a Single Image with Sparse-view Large Reconstruction Models.” arXiv:2404.07191, 2024.</a:t>
            </a:r>
          </a:p>
          <a:p>
            <a:pPr>
              <a:spcAft>
                <a:spcPts val="1000"/>
              </a:spcAft>
            </a:pPr>
            <a:r>
              <a:rPr sz="1210">
                <a:solidFill>
                  <a:srgbClr val="19182D"/>
                </a:solidFill>
                <a:latin typeface="Aptos"/>
              </a:rPr>
              <a:t>•  [5] W. E. Lorensen and H. E. Cline. “Marching Cubes: A High Resolution 3D Surface Construction Algorithm.” ACM SIGGRAPH Computer Graphics, 21(4), 163–169, 1987.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0" y="5989320"/>
            <a:ext cx="6400800" cy="109728"/>
          </a:xfrm>
          <a:prstGeom prst="rect">
            <a:avLst/>
          </a:prstGeom>
          <a:solidFill>
            <a:srgbClr val="2626A0"/>
          </a:solidFill>
          <a:ln>
            <a:solidFill>
              <a:srgbClr val="262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