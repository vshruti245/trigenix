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c3a24997ba4a04" /><Relationship Type="http://schemas.openxmlformats.org/officeDocument/2006/relationships/extended-properties" Target="/docProps/app.xml" Id="R80fc5ffe5f8a48e1" /><Relationship Type="http://schemas.openxmlformats.org/officeDocument/2006/relationships/officeDocument" Target="/ppt/presentation.xml" Id="Rf2696cee1c874ac2" /></Relationships>
</file>

<file path=ppt/presentation.xml><?xml version="1.0" encoding="utf-8"?>
<p:presentation xmlns:p="http://schemas.openxmlformats.org/presentationml/2006/main">
  <p:sldMasterIdLst>
    <p:sldMasterId xmlns:r="http://schemas.openxmlformats.org/officeDocument/2006/relationships" id="2147483648" r:id="R213bbe183c874fc1"/>
  </p:sldMasterIdLst>
  <p:notesMasterIdLst>
    <p:notesMasterId xmlns:r="http://schemas.openxmlformats.org/officeDocument/2006/relationships" r:id="Rb31b204dbf33459c"/>
  </p:notesMasterIdLst>
  <p:sldIdLst>
    <p:sldId xmlns:r="http://schemas.openxmlformats.org/officeDocument/2006/relationships" id="256" r:id="Rec098eb913514ae4"/>
    <p:sldId xmlns:r="http://schemas.openxmlformats.org/officeDocument/2006/relationships" id="257" r:id="R6e784984e0fe424d"/>
    <p:sldId xmlns:r="http://schemas.openxmlformats.org/officeDocument/2006/relationships" id="258" r:id="R6dd2b85a138c4d9e"/>
    <p:sldId xmlns:r="http://schemas.openxmlformats.org/officeDocument/2006/relationships" id="259" r:id="Rb5ade9a6756b497a"/>
    <p:sldId xmlns:r="http://schemas.openxmlformats.org/officeDocument/2006/relationships" id="260" r:id="R14ee7215f4e745b6"/>
    <p:sldId xmlns:r="http://schemas.openxmlformats.org/officeDocument/2006/relationships" id="261" r:id="R75c9e750f7c849c4"/>
    <p:sldId xmlns:r="http://schemas.openxmlformats.org/officeDocument/2006/relationships" id="262" r:id="Re7042f9383664c71"/>
    <p:sldId xmlns:r="http://schemas.openxmlformats.org/officeDocument/2006/relationships" id="263" r:id="R8d6543b727f94b05"/>
    <p:sldId xmlns:r="http://schemas.openxmlformats.org/officeDocument/2006/relationships" id="264" r:id="R60dbeaaae76a4ed9"/>
    <p:sldId xmlns:r="http://schemas.openxmlformats.org/officeDocument/2006/relationships" id="265" r:id="R2a3465028c9f4ed1"/>
    <p:sldId xmlns:r="http://schemas.openxmlformats.org/officeDocument/2006/relationships" id="266" r:id="Rd08937b41ef14e14"/>
    <p:sldId xmlns:r="http://schemas.openxmlformats.org/officeDocument/2006/relationships" id="267" r:id="R49e25bb3216f4af7"/>
    <p:sldId xmlns:r="http://schemas.openxmlformats.org/officeDocument/2006/relationships" id="268" r:id="R1508817e50204c0a"/>
    <p:sldId xmlns:r="http://schemas.openxmlformats.org/officeDocument/2006/relationships" id="269" r:id="R9db2c4f39d6043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c30b197d08467e" /><Relationship Type="http://schemas.openxmlformats.org/officeDocument/2006/relationships/slideMaster" Target="/ppt/slideMasters/slideMaster1.xml" Id="R213bbe183c874fc1" /><Relationship Type="http://schemas.openxmlformats.org/officeDocument/2006/relationships/notesMaster" Target="/ppt/notesMasters/notesMaster1.xml" Id="Rb31b204dbf33459c" /><Relationship Type="http://schemas.openxmlformats.org/officeDocument/2006/relationships/presProps" Target="/ppt/presProps.xml" Id="Rd5645c7c9b454255" /><Relationship Type="http://schemas.openxmlformats.org/officeDocument/2006/relationships/tableStyles" Target="/ppt/tableStyles.xml" Id="R50be012a2e2a46f6" /><Relationship Type="http://schemas.openxmlformats.org/officeDocument/2006/relationships/slide" Target="/ppt/slides/slide1.xml" Id="Rec098eb913514ae4" /><Relationship Type="http://schemas.openxmlformats.org/officeDocument/2006/relationships/slide" Target="/ppt/slides/slide2.xml" Id="R6e784984e0fe424d" /><Relationship Type="http://schemas.openxmlformats.org/officeDocument/2006/relationships/slide" Target="/ppt/slides/slide3.xml" Id="R6dd2b85a138c4d9e" /><Relationship Type="http://schemas.openxmlformats.org/officeDocument/2006/relationships/slide" Target="/ppt/slides/slide4.xml" Id="Rb5ade9a6756b497a" /><Relationship Type="http://schemas.openxmlformats.org/officeDocument/2006/relationships/slide" Target="/ppt/slides/slide5.xml" Id="R14ee7215f4e745b6" /><Relationship Type="http://schemas.openxmlformats.org/officeDocument/2006/relationships/slide" Target="/ppt/slides/slide6.xml" Id="R75c9e750f7c849c4" /><Relationship Type="http://schemas.openxmlformats.org/officeDocument/2006/relationships/slide" Target="/ppt/slides/slide7.xml" Id="Re7042f9383664c71" /><Relationship Type="http://schemas.openxmlformats.org/officeDocument/2006/relationships/slide" Target="/ppt/slides/slide8.xml" Id="R8d6543b727f94b05" /><Relationship Type="http://schemas.openxmlformats.org/officeDocument/2006/relationships/slide" Target="/ppt/slides/slide9.xml" Id="R60dbeaaae76a4ed9" /><Relationship Type="http://schemas.openxmlformats.org/officeDocument/2006/relationships/slide" Target="/ppt/slides/slide10.xml" Id="R2a3465028c9f4ed1" /><Relationship Type="http://schemas.openxmlformats.org/officeDocument/2006/relationships/slide" Target="/ppt/slides/slide11.xml" Id="Rd08937b41ef14e14" /><Relationship Type="http://schemas.openxmlformats.org/officeDocument/2006/relationships/slide" Target="/ppt/slides/slide12.xml" Id="R49e25bb3216f4af7" /><Relationship Type="http://schemas.openxmlformats.org/officeDocument/2006/relationships/slide" Target="/ppt/slides/slide13.xml" Id="R1508817e50204c0a" /><Relationship Type="http://schemas.openxmlformats.org/officeDocument/2006/relationships/slide" Target="/ppt/slides/slide14.xml" Id="R9db2c4f39d6043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8f3fd36ead41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7f9dbd58b2494a" /><Relationship Type="http://schemas.openxmlformats.org/officeDocument/2006/relationships/notesMaster" Target="/ppt/notesMasters/notesMaster1.xml" Id="R958ce90ad23d40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09c190263b411d" /><Relationship Type="http://schemas.openxmlformats.org/officeDocument/2006/relationships/notesMaster" Target="/ppt/notesMasters/notesMaster1.xml" Id="R4d2f554cc6f74f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a6e8f0dd4543a7" /><Relationship Type="http://schemas.openxmlformats.org/officeDocument/2006/relationships/notesMaster" Target="/ppt/notesMasters/notesMaster1.xml" Id="Ref031f0e56f54f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3cbb2a5cea4a11" /><Relationship Type="http://schemas.openxmlformats.org/officeDocument/2006/relationships/notesMaster" Target="/ppt/notesMasters/notesMaster1.xml" Id="R688737f1fb014b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ee8d28df49414e" /><Relationship Type="http://schemas.openxmlformats.org/officeDocument/2006/relationships/notesMaster" Target="/ppt/notesMasters/notesMaster1.xml" Id="R74c2c24a5af74e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56b9c3c7824c1a" /><Relationship Type="http://schemas.openxmlformats.org/officeDocument/2006/relationships/notesMaster" Target="/ppt/notesMasters/notesMaster1.xml" Id="R37529d65504046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b6d99a7b1e4226" /><Relationship Type="http://schemas.openxmlformats.org/officeDocument/2006/relationships/notesMaster" Target="/ppt/notesMasters/notesMaster1.xml" Id="Ree18edda383a47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d5ecb02c0a4162" /><Relationship Type="http://schemas.openxmlformats.org/officeDocument/2006/relationships/notesMaster" Target="/ppt/notesMasters/notesMaster1.xml" Id="R54b5789b99a14b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67ad41106c47d2" /><Relationship Type="http://schemas.openxmlformats.org/officeDocument/2006/relationships/notesMaster" Target="/ppt/notesMasters/notesMaster1.xml" Id="R3b2b3b78b38148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76e63853e645f7" /><Relationship Type="http://schemas.openxmlformats.org/officeDocument/2006/relationships/notesMaster" Target="/ppt/notesMasters/notesMaster1.xml" Id="R36bd5a0783164e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5ab28659e54460" /><Relationship Type="http://schemas.openxmlformats.org/officeDocument/2006/relationships/notesMaster" Target="/ppt/notesMasters/notesMaster1.xml" Id="R79df2c094e9046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5348d30a0d471c" /><Relationship Type="http://schemas.openxmlformats.org/officeDocument/2006/relationships/notesMaster" Target="/ppt/notesMasters/notesMaster1.xml" Id="Rb15652d9381c42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758bfba9154a5c" /><Relationship Type="http://schemas.openxmlformats.org/officeDocument/2006/relationships/notesMaster" Target="/ppt/notesMasters/notesMaster1.xml" Id="Reab816e7ee4543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4921f99045438c" /><Relationship Type="http://schemas.openxmlformats.org/officeDocument/2006/relationships/notesMaster" Target="/ppt/notesMasters/notesMaster1.xml" Id="Rafe34e2d9eb944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of the actual Trigenix code path, from browser file selection through viewing and downloading the reconstructed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deck follows this order. The photo quality heuristic is client-side and does not block upload. Server-side reconstruction quality is about the generated mesh.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input accept attribute is a browser picker hint, not a security boundary. Picker selection calls _loadFile without checking MIME; drop and paste paths check type.startsWith("image/").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variance and non-white fraction are approximations. This code does not implement a dedicated blur detector or semantic object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body is parsed into item_data bytes. validate_image_payload checks byte size, extension, Pillow verify, then checks detected format against png/jpeg/webp.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UUIDs reduce collisions and avoid trusting a user-supplied path as the storage filename. The suffix is derived from the validated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IS-Net is a dichotomous image segmentation model. The project calls rembg with the isnet-general-use session and obtains an RGBA image with an alpha mask.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Mask cleanup applies Pillow min/max filters, connected-component labeling, Gaussian blur, and a threshold. Subject crop uses alpha bounds with pad_frac=0.12.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uses covariance eigenvectors to infer the primary orientation of the foreground mask. Later formulas apply heuristic thresholds for roll/elevation/azimuth.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Depth Anything output is normalized per image and saved as grayscale/color PNGs. The reconstructor explicitly marks depth_maps false for geometry input, and notes relative depth is not used as metric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 mode can try InstantMesh if its required runtime dependencies are available, then TripoSR. The exact selected backend depends on runtime availability. TripoSR extracts at descending configured resolutions if a higher resolution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logs IoU under 0.35 as low and under 0.10 as very low. It is diagnostic rather than a hard failure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Thresholds and findings are topology/printability checks, not image quality checks or a guarantee of printer success. The project returns profile URLs and a quality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viewer uses Three.js GLTFLoader to parse and render GLB. The server checks authentication, path safety, allowed generated extensions, and user ownership before serving generated 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57fcbc15104a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22b61190604257" /><Relationship Type="http://schemas.openxmlformats.org/officeDocument/2006/relationships/slideLayout" Target="/ppt/slideLayouts/slideLayout1.xml" Id="R92ecd07c230c49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ecd07c230c49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a9c11bfa98424a" /><Relationship Type="http://schemas.openxmlformats.org/officeDocument/2006/relationships/notesSlide" Target="/ppt/notesSlides/notesSlide1.xml" Id="R11b6bf80408c49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bd4877d0f540b2" /><Relationship Type="http://schemas.openxmlformats.org/officeDocument/2006/relationships/notesSlide" Target="/ppt/notesSlides/notesSlide2.xml" Id="R5a7af4b7d84340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f3da019fa548da" /><Relationship Type="http://schemas.openxmlformats.org/officeDocument/2006/relationships/notesSlide" Target="/ppt/notesSlides/notesSlide3.xml" Id="Raf078944bd984b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f2a52da66442f2" /><Relationship Type="http://schemas.openxmlformats.org/officeDocument/2006/relationships/notesSlide" Target="/ppt/notesSlides/notesSlide4.xml" Id="R2e45e37a532245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9817a3347f48e4" /><Relationship Type="http://schemas.openxmlformats.org/officeDocument/2006/relationships/notesSlide" Target="/ppt/notesSlides/notesSlide5.xml" Id="R57dbcf419abe49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d897f7e62444d0" /><Relationship Type="http://schemas.openxmlformats.org/officeDocument/2006/relationships/notesSlide" Target="/ppt/notesSlides/notesSlide6.xml" Id="R372ab295cfd249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f1dd0a5e7e4b28" /><Relationship Type="http://schemas.openxmlformats.org/officeDocument/2006/relationships/notesSlide" Target="/ppt/notesSlides/notesSlide7.xml" Id="Rddfd7c79156745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a23f40d0d147b0" /><Relationship Type="http://schemas.openxmlformats.org/officeDocument/2006/relationships/notesSlide" Target="/ppt/notesSlides/notesSlide8.xml" Id="R7f8556adc8fe44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89ec6cddfc4124" /><Relationship Type="http://schemas.openxmlformats.org/officeDocument/2006/relationships/notesSlide" Target="/ppt/notesSlides/notesSlide9.xml" Id="Ra43d444c23f943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ee064b6e87448d" /><Relationship Type="http://schemas.openxmlformats.org/officeDocument/2006/relationships/notesSlide" Target="/ppt/notesSlides/notesSlide10.xml" Id="R687d7638c50f4e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be5891678e745c3" /><Relationship Type="http://schemas.openxmlformats.org/officeDocument/2006/relationships/notesSlide" Target="/ppt/notesSlides/notesSlide11.xml" Id="Ra9eca50a603146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75aa65bbf54156" /><Relationship Type="http://schemas.openxmlformats.org/officeDocument/2006/relationships/notesSlide" Target="/ppt/notesSlides/notesSlide12.xml" Id="R6692befea2d04b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ba1609fb004cb0" /><Relationship Type="http://schemas.openxmlformats.org/officeDocument/2006/relationships/notesSlide" Target="/ppt/notesSlides/notesSlide13.xml" Id="R778b039f15734e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f131943ba54637" /><Relationship Type="http://schemas.openxmlformats.org/officeDocument/2006/relationships/notesSlide" Target="/ppt/notesSlides/notesSlide14.xml" Id="R55bf645893754cbd" /></Relationships>
</file>

<file path=ppt/slides/slide1.xml><?xml version="1.0" encoding="utf-8"?>
<p:sld xmlns:p="http://schemas.openxmlformats.org/presentationml/2006/main">
  <p:cSld>
    <p:bg>
      <p:bgPr>
        <a:solidFill xmlns:a="http://schemas.openxmlformats.org/drawingml/2006/main">
          <a:srgbClr val="1023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6505B0-B0F7-4F24-B145-345F0D452B23}"/>
              </a:ext>
            </a:extLst>
          </p:cNvPr>
          <p:cNvSpPr>
            <a:spLocks xmlns:a="http://schemas.openxmlformats.org/drawingml/2006/main" noGrp="1"/>
          </p:cNvSpPr>
          <p:nvPr/>
        </p:nvSpPr>
        <p:spPr>
          <a:xfrm xmlns:a="http://schemas.openxmlformats.org/drawingml/2006/main">
            <a:off x="723900" y="6858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C5E66B"/>
                </a:solidFill>
                <a:latin typeface="Arial"/>
                <a:ea typeface="Arial"/>
                <a:cs typeface="Arial"/>
              </a:defRPr>
            </a:pPr>
            <a:r>
              <a:rPr sz="1275" b="1" i="0">
                <a:solidFill>
                  <a:srgbClr val="C5E66B"/>
                </a:solidFill>
                <a:latin typeface="Arial"/>
                <a:ea typeface="Arial"/>
                <a:cs typeface="Arial"/>
              </a:rPr>
              <a:t>TRIGENIX  /  PROJECT WALKTHROUGH</a:t>
            </a:r>
          </a:p>
        </p:txBody>
      </p:sp>
      <p:sp>
        <p:nvSpPr>
          <p:cNvPr id="2" name="">
            <a:extLst xmlns:a="http://schemas.openxmlformats.org/drawingml/2006/main">
              <a:ext uri="{FF2B5EF4-FFF2-40B4-BE49-F238E27FC236}">
                <a16:creationId xmlns:a16="http://schemas.microsoft.com/office/drawing/2014/main" id="{98F66877-40B8-4B13-86EE-5F732D254655}"/>
              </a:ext>
            </a:extLst>
          </p:cNvPr>
          <p:cNvSpPr>
            <a:spLocks xmlns:a="http://schemas.openxmlformats.org/drawingml/2006/main" noGrp="1"/>
          </p:cNvSpPr>
          <p:nvPr/>
        </p:nvSpPr>
        <p:spPr>
          <a:xfrm xmlns:a="http://schemas.openxmlformats.org/drawingml/2006/main">
            <a:off x="723900" y="1428750"/>
            <a:ext cx="7239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From image</a:t>
            </a:r>
          </a:p>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to 3D model</a:t>
            </a:r>
          </a:p>
        </p:txBody>
      </p:sp>
      <p:sp>
        <p:nvSpPr>
          <p:cNvPr id="3" name="">
            <a:extLst xmlns:a="http://schemas.openxmlformats.org/drawingml/2006/main">
              <a:ext uri="{FF2B5EF4-FFF2-40B4-BE49-F238E27FC236}">
                <a16:creationId xmlns:a16="http://schemas.microsoft.com/office/drawing/2014/main" id="{7D034086-460E-4CED-9F36-25D63C103C69}"/>
              </a:ext>
            </a:extLst>
          </p:cNvPr>
          <p:cNvSpPr>
            <a:spLocks xmlns:a="http://schemas.openxmlformats.org/drawingml/2006/main" noGrp="1"/>
          </p:cNvSpPr>
          <p:nvPr/>
        </p:nvSpPr>
        <p:spPr>
          <a:xfrm xmlns:a="http://schemas.openxmlformats.org/drawingml/2006/main">
            <a:off x="762000" y="3943350"/>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96"/>
          </a:bodyPr>
          <a:lstStyle xmlns:a="http://schemas.openxmlformats.org/drawingml/2006/main"/>
          <a:p xmlns:a="http://schemas.openxmlformats.org/drawingml/2006/main">
            <a:pPr>
              <a:defRPr sz="2025" b="0" i="0">
                <a:solidFill>
                  <a:srgbClr val="C9D8D7"/>
                </a:solidFill>
                <a:latin typeface="Arial"/>
                <a:ea typeface="Arial"/>
                <a:cs typeface="Arial"/>
              </a:defRPr>
            </a:pPr>
            <a:r>
              <a:rPr sz="2025" b="0" i="0">
                <a:solidFill>
                  <a:srgbClr val="C9D8D7"/>
                </a:solidFill>
                <a:latin typeface="Arial"/>
                <a:ea typeface="Arial"/>
                <a:cs typeface="Arial"/>
              </a:rPr>
              <a:t>How upload validation, image processing, reconstruction, and the viewer work</a:t>
            </a:r>
          </a:p>
        </p:txBody>
      </p:sp>
      <p:sp>
        <p:nvSpPr>
          <p:cNvPr id="4" name="">
            <a:extLst xmlns:a="http://schemas.openxmlformats.org/drawingml/2006/main">
              <a:ext uri="{FF2B5EF4-FFF2-40B4-BE49-F238E27FC236}">
                <a16:creationId xmlns:a16="http://schemas.microsoft.com/office/drawing/2014/main" id="{D8D960AD-3528-47C2-8687-CA1C75873469}"/>
              </a:ext>
            </a:extLst>
          </p:cNvPr>
          <p:cNvSpPr>
            <a:spLocks xmlns:a="http://schemas.openxmlformats.org/drawingml/2006/main" noGrp="1"/>
          </p:cNvSpPr>
          <p:nvPr/>
        </p:nvSpPr>
        <p:spPr>
          <a:xfrm xmlns:a="http://schemas.openxmlformats.org/drawingml/2006/main">
            <a:off x="762000" y="5105400"/>
            <a:ext cx="10572750" cy="19050"/>
          </a:xfrm>
          <a:prstGeom xmlns:a="http://schemas.openxmlformats.org/drawingml/2006/main" prst="rect">
            <a:avLst/>
          </a:prstGeom>
          <a:solidFill xmlns:a="http://schemas.openxmlformats.org/drawingml/2006/main">
            <a:srgbClr val="31535A"/>
          </a:solidFill>
          <a:ln xmlns:a="http://schemas.openxmlformats.org/drawingml/2006/main" w="0">
            <a:solidFill>
              <a:srgbClr val="31535A"/>
            </a:solidFill>
          </a:ln>
        </p:spPr>
      </p:sp>
      <p:sp>
        <p:nvSpPr>
          <p:cNvPr id="5" name="">
            <a:extLst xmlns:a="http://schemas.openxmlformats.org/drawingml/2006/main">
              <a:ext uri="{FF2B5EF4-FFF2-40B4-BE49-F238E27FC236}">
                <a16:creationId xmlns:a16="http://schemas.microsoft.com/office/drawing/2014/main" id="{569B3A18-B5C9-456C-ABF5-3DC15630D53C}"/>
              </a:ext>
            </a:extLst>
          </p:cNvPr>
          <p:cNvSpPr>
            <a:spLocks xmlns:a="http://schemas.openxmlformats.org/drawingml/2006/main" noGrp="1"/>
          </p:cNvSpPr>
          <p:nvPr/>
        </p:nvSpPr>
        <p:spPr>
          <a:xfrm xmlns:a="http://schemas.openxmlformats.org/drawingml/2006/main">
            <a:off x="762000" y="53911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i="0">
                <a:solidFill>
                  <a:srgbClr val="C5E66B"/>
                </a:solidFill>
                <a:latin typeface="Arial"/>
                <a:ea typeface="Arial"/>
                <a:cs typeface="Arial"/>
              </a:defRPr>
            </a:pPr>
            <a:r>
              <a:rPr sz="1200" b="1" i="0">
                <a:solidFill>
                  <a:srgbClr val="C5E66B"/>
                </a:solidFill>
                <a:latin typeface="Arial"/>
                <a:ea typeface="Arial"/>
                <a:cs typeface="Arial"/>
              </a:rPr>
              <a:t>SOURCE WALKTHROUGH</a:t>
            </a:r>
          </a:p>
        </p:txBody>
      </p:sp>
      <p:sp>
        <p:nvSpPr>
          <p:cNvPr id="6" name="">
            <a:extLst xmlns:a="http://schemas.openxmlformats.org/drawingml/2006/main">
              <a:ext uri="{FF2B5EF4-FFF2-40B4-BE49-F238E27FC236}">
                <a16:creationId xmlns:a16="http://schemas.microsoft.com/office/drawing/2014/main" id="{8D48F24D-8C60-467C-89C0-4A152EAE6A92}"/>
              </a:ext>
            </a:extLst>
          </p:cNvPr>
          <p:cNvSpPr>
            <a:spLocks xmlns:a="http://schemas.openxmlformats.org/drawingml/2006/main" noGrp="1"/>
          </p:cNvSpPr>
          <p:nvPr/>
        </p:nvSpPr>
        <p:spPr>
          <a:xfrm xmlns:a="http://schemas.openxmlformats.org/drawingml/2006/main">
            <a:off x="762000" y="574357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defRPr sz="1575" b="0" i="0">
                <a:solidFill>
                  <a:srgbClr val="FFFFFF"/>
                </a:solidFill>
                <a:latin typeface="Arial"/>
                <a:ea typeface="Arial"/>
                <a:cs typeface="Arial"/>
              </a:defRPr>
            </a:pPr>
            <a:r>
              <a:rPr sz="1575" b="0" i="0">
                <a:solidFill>
                  <a:srgbClr val="FFFFFF"/>
                </a:solidFill>
                <a:latin typeface="Arial"/>
                <a:ea typeface="Arial"/>
                <a:cs typeface="Arial"/>
              </a:rPr>
              <a:t>Based on the current Trigenix project code</a:t>
            </a:r>
          </a:p>
        </p:txBody>
      </p:sp>
      <p:sp>
        <p:nvSpPr>
          <p:cNvPr id="7" name="">
            <a:extLst xmlns:a="http://schemas.openxmlformats.org/drawingml/2006/main">
              <a:ext uri="{FF2B5EF4-FFF2-40B4-BE49-F238E27FC236}">
                <a16:creationId xmlns:a16="http://schemas.microsoft.com/office/drawing/2014/main" id="{7877E96B-44C6-47A2-824C-A821CD8563A2}"/>
              </a:ext>
            </a:extLst>
          </p:cNvPr>
          <p:cNvSpPr>
            <a:spLocks xmlns:a="http://schemas.openxmlformats.org/drawingml/2006/main" noGrp="1"/>
          </p:cNvSpPr>
          <p:nvPr/>
        </p:nvSpPr>
        <p:spPr>
          <a:xfrm xmlns:a="http://schemas.openxmlformats.org/drawingml/2006/main">
            <a:off x="11144250" y="63055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9EB3B2"/>
                </a:solidFill>
                <a:latin typeface="Arial"/>
                <a:ea typeface="Arial"/>
                <a:cs typeface="Arial"/>
              </a:defRPr>
            </a:pPr>
            <a:r>
              <a:rPr sz="1200" b="1" i="0">
                <a:solidFill>
                  <a:srgbClr val="9EB3B2"/>
                </a:solidFill>
                <a:latin typeface="Arial"/>
                <a:ea typeface="Arial"/>
                <a:cs typeface="Arial"/>
              </a:rPr>
              <a:t>01</a:t>
            </a:r>
          </a:p>
        </p:txBody>
      </p:sp>
    </p:spTree>
    <p:extLst>
      <p:ext uri="{BB962C8B-B14F-4D97-AF65-F5344CB8AC3E}">
        <p14:creationId xmlns:p14="http://schemas.microsoft.com/office/powerpoint/2010/main" val="1021883145"/>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8B82925-05E4-49E5-B451-67CE5605D00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967DED10-3D45-4645-9563-4BB69C3A1467}"/>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The complete processing flow</a:t>
            </a:r>
          </a:p>
        </p:txBody>
      </p:sp>
      <p:sp>
        <p:nvSpPr>
          <p:cNvPr id="3" name="">
            <a:extLst xmlns:a="http://schemas.openxmlformats.org/drawingml/2006/main">
              <a:ext uri="{FF2B5EF4-FFF2-40B4-BE49-F238E27FC236}">
                <a16:creationId xmlns:a16="http://schemas.microsoft.com/office/drawing/2014/main" id="{6A40423A-F2D4-458C-8B94-A81C9B9AB2DF}"/>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A922533B-DDAF-415A-BCF6-19CDF680E166}"/>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06CBDCC-0873-48CE-A7A3-396B7FB39517}"/>
              </a:ext>
            </a:extLst>
          </p:cNvPr>
          <p:cNvSpPr>
            <a:spLocks xmlns:a="http://schemas.openxmlformats.org/drawingml/2006/main" noGrp="1"/>
          </p:cNvSpPr>
          <p:nvPr/>
        </p:nvSpPr>
        <p:spPr>
          <a:xfrm xmlns:a="http://schemas.openxmlformats.org/drawingml/2006/main">
            <a:off x="762000" y="1809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01  Select &amp; inspect</a:t>
            </a:r>
          </a:p>
        </p:txBody>
      </p:sp>
      <p:sp>
        <p:nvSpPr>
          <p:cNvPr id="6" name="">
            <a:extLst xmlns:a="http://schemas.openxmlformats.org/drawingml/2006/main">
              <a:ext uri="{FF2B5EF4-FFF2-40B4-BE49-F238E27FC236}">
                <a16:creationId xmlns:a16="http://schemas.microsoft.com/office/drawing/2014/main" id="{9F8CDA1F-2178-4D0F-8BD9-974B98A0C473}"/>
              </a:ext>
            </a:extLst>
          </p:cNvPr>
          <p:cNvSpPr>
            <a:spLocks xmlns:a="http://schemas.openxmlformats.org/drawingml/2006/main" noGrp="1"/>
          </p:cNvSpPr>
          <p:nvPr/>
        </p:nvSpPr>
        <p:spPr>
          <a:xfrm xmlns:a="http://schemas.openxmlformats.org/drawingml/2006/main">
            <a:off x="6477000" y="1809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02  Validate &amp; save</a:t>
            </a:r>
          </a:p>
        </p:txBody>
      </p:sp>
      <p:sp>
        <p:nvSpPr>
          <p:cNvPr id="7" name="">
            <a:extLst xmlns:a="http://schemas.openxmlformats.org/drawingml/2006/main">
              <a:ext uri="{FF2B5EF4-FFF2-40B4-BE49-F238E27FC236}">
                <a16:creationId xmlns:a16="http://schemas.microsoft.com/office/drawing/2014/main" id="{6C126E3E-DFC6-4B35-99F0-96FBEEF6D777}"/>
              </a:ext>
            </a:extLst>
          </p:cNvPr>
          <p:cNvSpPr>
            <a:spLocks xmlns:a="http://schemas.openxmlformats.org/drawingml/2006/main" noGrp="1"/>
          </p:cNvSpPr>
          <p:nvPr/>
        </p:nvSpPr>
        <p:spPr>
          <a:xfrm xmlns:a="http://schemas.openxmlformats.org/drawingml/2006/main">
            <a:off x="762000" y="28575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03  Segment &amp; prepare</a:t>
            </a:r>
          </a:p>
        </p:txBody>
      </p:sp>
      <p:sp>
        <p:nvSpPr>
          <p:cNvPr id="8" name="">
            <a:extLst xmlns:a="http://schemas.openxmlformats.org/drawingml/2006/main">
              <a:ext uri="{FF2B5EF4-FFF2-40B4-BE49-F238E27FC236}">
                <a16:creationId xmlns:a16="http://schemas.microsoft.com/office/drawing/2014/main" id="{BE805C3E-80D0-41B5-9D92-07C3F3A3F708}"/>
              </a:ext>
            </a:extLst>
          </p:cNvPr>
          <p:cNvSpPr>
            <a:spLocks xmlns:a="http://schemas.openxmlformats.org/drawingml/2006/main" noGrp="1"/>
          </p:cNvSpPr>
          <p:nvPr/>
        </p:nvSpPr>
        <p:spPr>
          <a:xfrm xmlns:a="http://schemas.openxmlformats.org/drawingml/2006/main">
            <a:off x="6477000" y="28575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04  Views &amp; depth</a:t>
            </a:r>
          </a:p>
        </p:txBody>
      </p:sp>
      <p:sp>
        <p:nvSpPr>
          <p:cNvPr id="9" name="">
            <a:extLst xmlns:a="http://schemas.openxmlformats.org/drawingml/2006/main">
              <a:ext uri="{FF2B5EF4-FFF2-40B4-BE49-F238E27FC236}">
                <a16:creationId xmlns:a16="http://schemas.microsoft.com/office/drawing/2014/main" id="{2F10875E-D811-48D1-8E86-10174A201B58}"/>
              </a:ext>
            </a:extLst>
          </p:cNvPr>
          <p:cNvSpPr>
            <a:spLocks xmlns:a="http://schemas.openxmlformats.org/drawingml/2006/main" noGrp="1"/>
          </p:cNvSpPr>
          <p:nvPr/>
        </p:nvSpPr>
        <p:spPr>
          <a:xfrm xmlns:a="http://schemas.openxmlformats.org/drawingml/2006/main">
            <a:off x="7620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05  Reconstruct mesh</a:t>
            </a:r>
          </a:p>
        </p:txBody>
      </p:sp>
      <p:sp>
        <p:nvSpPr>
          <p:cNvPr id="10" name="">
            <a:extLst xmlns:a="http://schemas.openxmlformats.org/drawingml/2006/main">
              <a:ext uri="{FF2B5EF4-FFF2-40B4-BE49-F238E27FC236}">
                <a16:creationId xmlns:a16="http://schemas.microsoft.com/office/drawing/2014/main" id="{FC1023F5-2E8D-44AF-88A9-97B134F9B466}"/>
              </a:ext>
            </a:extLst>
          </p:cNvPr>
          <p:cNvSpPr>
            <a:spLocks xmlns:a="http://schemas.openxmlformats.org/drawingml/2006/main" noGrp="1"/>
          </p:cNvSpPr>
          <p:nvPr/>
        </p:nvSpPr>
        <p:spPr>
          <a:xfrm xmlns:a="http://schemas.openxmlformats.org/drawingml/2006/main">
            <a:off x="64770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06  Check, export &amp; view</a:t>
            </a:r>
          </a:p>
        </p:txBody>
      </p:sp>
      <p:sp>
        <p:nvSpPr>
          <p:cNvPr id="11" name="">
            <a:extLst xmlns:a="http://schemas.openxmlformats.org/drawingml/2006/main">
              <a:ext uri="{FF2B5EF4-FFF2-40B4-BE49-F238E27FC236}">
                <a16:creationId xmlns:a16="http://schemas.microsoft.com/office/drawing/2014/main" id="{123A4EE0-120F-4CDA-8A18-36499FFD63B2}"/>
              </a:ext>
            </a:extLst>
          </p:cNvPr>
          <p:cNvSpPr>
            <a:spLocks xmlns:a="http://schemas.openxmlformats.org/drawingml/2006/main" noGrp="1"/>
          </p:cNvSpPr>
          <p:nvPr/>
        </p:nvSpPr>
        <p:spPr>
          <a:xfrm xmlns:a="http://schemas.openxmlformats.org/drawingml/2006/main">
            <a:off x="762000" y="23622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B5D16C24-46D8-4298-9C70-6BC5D981CCEE}"/>
              </a:ext>
            </a:extLst>
          </p:cNvPr>
          <p:cNvSpPr>
            <a:spLocks xmlns:a="http://schemas.openxmlformats.org/drawingml/2006/main" noGrp="1"/>
          </p:cNvSpPr>
          <p:nvPr/>
        </p:nvSpPr>
        <p:spPr>
          <a:xfrm xmlns:a="http://schemas.openxmlformats.org/drawingml/2006/main">
            <a:off x="6477000" y="23622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server.py</a:t>
            </a:r>
          </a:p>
        </p:txBody>
      </p:sp>
      <p:sp>
        <p:nvSpPr>
          <p:cNvPr id="13" name="">
            <a:extLst xmlns:a="http://schemas.openxmlformats.org/drawingml/2006/main">
              <a:ext uri="{FF2B5EF4-FFF2-40B4-BE49-F238E27FC236}">
                <a16:creationId xmlns:a16="http://schemas.microsoft.com/office/drawing/2014/main" id="{460713AF-756F-49CD-8B70-CF542123BA1E}"/>
              </a:ext>
            </a:extLst>
          </p:cNvPr>
          <p:cNvSpPr>
            <a:spLocks xmlns:a="http://schemas.openxmlformats.org/drawingml/2006/main" noGrp="1"/>
          </p:cNvSpPr>
          <p:nvPr/>
        </p:nvSpPr>
        <p:spPr>
          <a:xfrm xmlns:a="http://schemas.openxmlformats.org/drawingml/2006/main">
            <a:off x="762000" y="3409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processor.py + pose_estimator.py</a:t>
            </a:r>
          </a:p>
        </p:txBody>
      </p:sp>
      <p:sp>
        <p:nvSpPr>
          <p:cNvPr id="14" name="">
            <a:extLst xmlns:a="http://schemas.openxmlformats.org/drawingml/2006/main">
              <a:ext uri="{FF2B5EF4-FFF2-40B4-BE49-F238E27FC236}">
                <a16:creationId xmlns:a16="http://schemas.microsoft.com/office/drawing/2014/main" id="{54A35526-126D-4775-8033-A8AC2600627D}"/>
              </a:ext>
            </a:extLst>
          </p:cNvPr>
          <p:cNvSpPr>
            <a:spLocks xmlns:a="http://schemas.openxmlformats.org/drawingml/2006/main" noGrp="1"/>
          </p:cNvSpPr>
          <p:nvPr/>
        </p:nvSpPr>
        <p:spPr>
          <a:xfrm xmlns:a="http://schemas.openxmlformats.org/drawingml/2006/main">
            <a:off x="6477000" y="3409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Zero123++ + Depth Anything</a:t>
            </a:r>
          </a:p>
        </p:txBody>
      </p:sp>
      <p:sp>
        <p:nvSpPr>
          <p:cNvPr id="15" name="">
            <a:extLst xmlns:a="http://schemas.openxmlformats.org/drawingml/2006/main">
              <a:ext uri="{FF2B5EF4-FFF2-40B4-BE49-F238E27FC236}">
                <a16:creationId xmlns:a16="http://schemas.microsoft.com/office/drawing/2014/main" id="{9B1990A3-7333-4563-8CEA-5F9268B5934B}"/>
              </a:ext>
            </a:extLst>
          </p:cNvPr>
          <p:cNvSpPr>
            <a:spLocks xmlns:a="http://schemas.openxmlformats.org/drawingml/2006/main" noGrp="1"/>
          </p:cNvSpPr>
          <p:nvPr/>
        </p:nvSpPr>
        <p:spPr>
          <a:xfrm xmlns:a="http://schemas.openxmlformats.org/drawingml/2006/main">
            <a:off x="762000" y="4457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reconstructor.py</a:t>
            </a:r>
          </a:p>
        </p:txBody>
      </p:sp>
      <p:sp>
        <p:nvSpPr>
          <p:cNvPr id="16" name="">
            <a:extLst xmlns:a="http://schemas.openxmlformats.org/drawingml/2006/main">
              <a:ext uri="{FF2B5EF4-FFF2-40B4-BE49-F238E27FC236}">
                <a16:creationId xmlns:a16="http://schemas.microsoft.com/office/drawing/2014/main" id="{9D042E3A-A8B1-437B-86AA-FC40F052363D}"/>
              </a:ext>
            </a:extLst>
          </p:cNvPr>
          <p:cNvSpPr>
            <a:spLocks xmlns:a="http://schemas.openxmlformats.org/drawingml/2006/main" noGrp="1"/>
          </p:cNvSpPr>
          <p:nvPr/>
        </p:nvSpPr>
        <p:spPr>
          <a:xfrm xmlns:a="http://schemas.openxmlformats.org/drawingml/2006/main">
            <a:off x="6477000" y="4457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quality report + Three.js viewer</a:t>
            </a:r>
          </a:p>
        </p:txBody>
      </p:sp>
      <p:sp>
        <p:nvSpPr>
          <p:cNvPr id="17" name="">
            <a:extLst xmlns:a="http://schemas.openxmlformats.org/drawingml/2006/main">
              <a:ext uri="{FF2B5EF4-FFF2-40B4-BE49-F238E27FC236}">
                <a16:creationId xmlns:a16="http://schemas.microsoft.com/office/drawing/2014/main" id="{4B5DB2C4-E2E1-4F31-A63D-D2B02F8BAB1A}"/>
              </a:ext>
            </a:extLst>
          </p:cNvPr>
          <p:cNvSpPr>
            <a:spLocks xmlns:a="http://schemas.openxmlformats.org/drawingml/2006/main" noGrp="1"/>
          </p:cNvSpPr>
          <p:nvPr/>
        </p:nvSpPr>
        <p:spPr>
          <a:xfrm xmlns:a="http://schemas.openxmlformats.org/drawingml/2006/main">
            <a:off x="762000" y="5391150"/>
            <a:ext cx="10477500" cy="609600"/>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defRPr sz="1725" b="1" i="0">
                <a:solidFill>
                  <a:srgbClr val="142B36"/>
                </a:solidFill>
                <a:latin typeface="Arial"/>
                <a:ea typeface="Arial"/>
                <a:cs typeface="Arial"/>
              </a:defRPr>
            </a:pPr>
            <a:r>
              <a:rPr sz="1725" b="1" i="0">
                <a:solidFill>
                  <a:srgbClr val="142B36"/>
                </a:solidFill>
                <a:latin typeface="Arial"/>
                <a:ea typeface="Arial"/>
                <a:cs typeface="Arial"/>
              </a:rPr>
              <a:t>Key distinction: photo warnings run in the browser before upload; mesh printability checks run after reconstruction.</a:t>
            </a:r>
          </a:p>
        </p:txBody>
      </p:sp>
    </p:spTree>
    <p:extLst>
      <p:ext uri="{BB962C8B-B14F-4D97-AF65-F5344CB8AC3E}">
        <p14:creationId xmlns:p14="http://schemas.microsoft.com/office/powerpoint/2010/main" val="2058304256"/>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C8A6D3-42E0-4AF6-B750-9C0400A8DD3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A34AE066-291F-4AE3-B3BB-03FC13A985EA}"/>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1: File selection and MIME hints</a:t>
            </a:r>
          </a:p>
        </p:txBody>
      </p:sp>
      <p:sp>
        <p:nvSpPr>
          <p:cNvPr id="3" name="">
            <a:extLst xmlns:a="http://schemas.openxmlformats.org/drawingml/2006/main">
              <a:ext uri="{FF2B5EF4-FFF2-40B4-BE49-F238E27FC236}">
                <a16:creationId xmlns:a16="http://schemas.microsoft.com/office/drawing/2014/main" id="{43065E80-AC1C-42C8-867C-9B38B2D7138D}"/>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4C81BBDF-20F0-4436-92CA-38C2E9724293}"/>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9E20C5D-0FF6-44A6-86AE-0F13E5E05B2E}"/>
              </a:ext>
            </a:extLst>
          </p:cNvPr>
          <p:cNvSpPr>
            <a:spLocks xmlns:a="http://schemas.openxmlformats.org/drawingml/2006/main" noGrp="1"/>
          </p:cNvSpPr>
          <p:nvPr/>
        </p:nvSpPr>
        <p:spPr>
          <a:xfrm xmlns:a="http://schemas.openxmlformats.org/drawingml/2006/main">
            <a:off x="685800" y="1714500"/>
            <a:ext cx="4857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file picker’s accept attribute asks the browser to show image files.</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Drag-and-drop and paste paths also check the browser-reported MIME type.</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These are convenience filters. The backend still validates the upload.</a:t>
            </a:r>
          </a:p>
        </p:txBody>
      </p:sp>
      <p:sp>
        <p:nvSpPr>
          <p:cNvPr id="6" name="">
            <a:extLst xmlns:a="http://schemas.openxmlformats.org/drawingml/2006/main">
              <a:ext uri="{FF2B5EF4-FFF2-40B4-BE49-F238E27FC236}">
                <a16:creationId xmlns:a16="http://schemas.microsoft.com/office/drawing/2014/main" id="{D167ECEA-919A-4B3A-95DD-F5DD7C10CE12}"/>
              </a:ext>
            </a:extLst>
          </p:cNvPr>
          <p:cNvSpPr>
            <a:spLocks xmlns:a="http://schemas.openxmlformats.org/drawingml/2006/main" noGrp="1"/>
          </p:cNvSpPr>
          <p:nvPr/>
        </p:nvSpPr>
        <p:spPr>
          <a:xfrm xmlns:a="http://schemas.openxmlformats.org/drawingml/2006/main">
            <a:off x="6172200" y="1714500"/>
            <a:ext cx="5334000" cy="2762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&lt;input type="file"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accept="image/*"&gt;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(f &amp;&amp; f.type.startsWith('image/'))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_loadFile(f);</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9011B30D-FF69-476B-98D3-0838F864A7A5}"/>
              </a:ext>
            </a:extLst>
          </p:cNvPr>
          <p:cNvSpPr>
            <a:spLocks xmlns:a="http://schemas.openxmlformats.org/drawingml/2006/main" noGrp="1"/>
          </p:cNvSpPr>
          <p:nvPr/>
        </p:nvSpPr>
        <p:spPr>
          <a:xfrm xmlns:a="http://schemas.openxmlformats.org/drawingml/2006/main">
            <a:off x="6172200" y="46101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HTML/DropImage.html:329 · JS/DropImage.js:404–413</a:t>
            </a:r>
          </a:p>
        </p:txBody>
      </p:sp>
      <p:sp>
        <p:nvSpPr>
          <p:cNvPr id="8" name="">
            <a:extLst xmlns:a="http://schemas.openxmlformats.org/drawingml/2006/main">
              <a:ext uri="{FF2B5EF4-FFF2-40B4-BE49-F238E27FC236}">
                <a16:creationId xmlns:a16="http://schemas.microsoft.com/office/drawing/2014/main" id="{7689E7E5-ADAF-4349-83CE-6193143214C2}"/>
              </a:ext>
            </a:extLst>
          </p:cNvPr>
          <p:cNvSpPr>
            <a:spLocks xmlns:a="http://schemas.openxmlformats.org/drawingml/2006/main" noGrp="1"/>
          </p:cNvSpPr>
          <p:nvPr/>
        </p:nvSpPr>
        <p:spPr>
          <a:xfrm xmlns:a="http://schemas.openxmlformats.org/drawingml/2006/main">
            <a:off x="685800" y="5753100"/>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A filename or MIME label alone cannot prove what the bytes contain.</a:t>
            </a:r>
          </a:p>
        </p:txBody>
      </p:sp>
    </p:spTree>
    <p:extLst>
      <p:ext uri="{BB962C8B-B14F-4D97-AF65-F5344CB8AC3E}">
        <p14:creationId xmlns:p14="http://schemas.microsoft.com/office/powerpoint/2010/main" val="774117072"/>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AEFB45-9322-4E10-9CE3-240F3D8F394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920A255F-F1F2-4264-B8AC-E2C185F94F98}"/>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2: Browser-side photo checks</a:t>
            </a:r>
          </a:p>
        </p:txBody>
      </p:sp>
      <p:sp>
        <p:nvSpPr>
          <p:cNvPr id="3" name="">
            <a:extLst xmlns:a="http://schemas.openxmlformats.org/drawingml/2006/main">
              <a:ext uri="{FF2B5EF4-FFF2-40B4-BE49-F238E27FC236}">
                <a16:creationId xmlns:a16="http://schemas.microsoft.com/office/drawing/2014/main" id="{722CF978-FF2D-44F2-B091-6F259FC1CFF3}"/>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0C29B305-98DA-4079-BE16-8F090CD3B765}"/>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CF52D73-4DD6-4A62-9FAF-E939DD554B74}"/>
              </a:ext>
            </a:extLst>
          </p:cNvPr>
          <p:cNvSpPr>
            <a:spLocks xmlns:a="http://schemas.openxmlformats.org/drawingml/2006/main" noGrp="1"/>
          </p:cNvSpPr>
          <p:nvPr/>
        </p:nvSpPr>
        <p:spPr>
          <a:xfrm xmlns:a="http://schemas.openxmlformats.org/drawingml/2006/main">
            <a:off x="685800" y="1657350"/>
            <a:ext cx="5381625"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Canvas makes the image’s pixels available to JavaScript. The code shrinks large images to a maximum 200 px side, then calculates:</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Resolution: warn if either side &lt; 256 px</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Luminance: 0.299R + 0.587G + 0.114B</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Mean brightness: warn below 40 or above 220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Luminance variance: warn below 200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Corner luminance range: warn above 80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Non-white pixel fraction: warn below 5%</a:t>
            </a:r>
          </a:p>
        </p:txBody>
      </p:sp>
      <p:sp>
        <p:nvSpPr>
          <p:cNvPr id="6" name="">
            <a:extLst xmlns:a="http://schemas.openxmlformats.org/drawingml/2006/main">
              <a:ext uri="{FF2B5EF4-FFF2-40B4-BE49-F238E27FC236}">
                <a16:creationId xmlns:a16="http://schemas.microsoft.com/office/drawing/2014/main" id="{84FD641D-305A-4686-A2CF-6146EC4116BF}"/>
              </a:ext>
            </a:extLst>
          </p:cNvPr>
          <p:cNvSpPr>
            <a:spLocks xmlns:a="http://schemas.openxmlformats.org/drawingml/2006/main" noGrp="1"/>
          </p:cNvSpPr>
          <p:nvPr/>
        </p:nvSpPr>
        <p:spPr>
          <a:xfrm xmlns:a="http://schemas.openxmlformats.org/drawingml/2006/main">
            <a:off x="6334125" y="1714500"/>
            <a:ext cx="5191125" cy="3714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canvas = document.createElement('canvas');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scale = Math.min(1, 200 / Math.max(w, 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canvas.width = Math.round(w * scale);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canvas.height = Math.round(h * scale);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ctx = canvas.getContext('2d');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ctx.drawImage(img, 0, 0, canvas.width, canvas.height);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data = ctx.getImageData(0, 0, canvas.width, canvas.height).data;</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avgBright = totalBright / n;</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(avgBright &lt; 40) warnings.push('too dark');</a:t>
            </a:r>
          </a:p>
        </p:txBody>
      </p:sp>
      <p:sp>
        <p:nvSpPr>
          <p:cNvPr id="7" name="">
            <a:extLst xmlns:a="http://schemas.openxmlformats.org/drawingml/2006/main">
              <a:ext uri="{FF2B5EF4-FFF2-40B4-BE49-F238E27FC236}">
                <a16:creationId xmlns:a16="http://schemas.microsoft.com/office/drawing/2014/main" id="{8FE20BCB-1E74-401F-8DDC-A6AFF9F74F2E}"/>
              </a:ext>
            </a:extLst>
          </p:cNvPr>
          <p:cNvSpPr>
            <a:spLocks xmlns:a="http://schemas.openxmlformats.org/drawingml/2006/main" noGrp="1"/>
          </p:cNvSpPr>
          <p:nvPr/>
        </p:nvSpPr>
        <p:spPr>
          <a:xfrm xmlns:a="http://schemas.openxmlformats.org/drawingml/2006/main">
            <a:off x="6334125" y="55626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JS/DropImage.js:268–345</a:t>
            </a:r>
          </a:p>
        </p:txBody>
      </p:sp>
      <p:sp>
        <p:nvSpPr>
          <p:cNvPr id="8" name="">
            <a:extLst xmlns:a="http://schemas.openxmlformats.org/drawingml/2006/main">
              <a:ext uri="{FF2B5EF4-FFF2-40B4-BE49-F238E27FC236}">
                <a16:creationId xmlns:a16="http://schemas.microsoft.com/office/drawing/2014/main" id="{BD8512C6-6BD7-4B9D-8D52-485346848A2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defRPr sz="1575" b="1" i="0">
                <a:solidFill>
                  <a:srgbClr val="087E83"/>
                </a:solidFill>
                <a:latin typeface="Arial"/>
                <a:ea typeface="Arial"/>
                <a:cs typeface="Arial"/>
              </a:defRPr>
            </a:pPr>
            <a:r>
              <a:rPr sz="1575" b="1" i="0">
                <a:solidFill>
                  <a:srgbClr val="087E83"/>
                </a:solidFill>
                <a:latin typeface="Arial"/>
                <a:ea typeface="Arial"/>
                <a:cs typeface="Arial"/>
              </a:rPr>
              <a:t>These are warning heuristics, not a single score or an upload rejection.</a:t>
            </a:r>
          </a:p>
        </p:txBody>
      </p:sp>
    </p:spTree>
    <p:extLst>
      <p:ext uri="{BB962C8B-B14F-4D97-AF65-F5344CB8AC3E}">
        <p14:creationId xmlns:p14="http://schemas.microsoft.com/office/powerpoint/2010/main" val="802250486"/>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BE4AAC-6945-49EB-B5F2-7F73A34B4E2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3A1E4BE5-EDD4-4CAD-A3E4-E4A1E9A58C7A}"/>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3: Upload and server validation</a:t>
            </a:r>
          </a:p>
        </p:txBody>
      </p:sp>
      <p:sp>
        <p:nvSpPr>
          <p:cNvPr id="3" name="">
            <a:extLst xmlns:a="http://schemas.openxmlformats.org/drawingml/2006/main">
              <a:ext uri="{FF2B5EF4-FFF2-40B4-BE49-F238E27FC236}">
                <a16:creationId xmlns:a16="http://schemas.microsoft.com/office/drawing/2014/main" id="{06899285-2AEF-430A-9637-C4F1EE1EB9DB}"/>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14BE5D15-C5E7-4BFF-A4FF-A5CCFDFEAAB4}"/>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5DB6041-F505-4777-98CA-437EAC0E1829}"/>
              </a:ext>
            </a:extLst>
          </p:cNvPr>
          <p:cNvSpPr>
            <a:spLocks xmlns:a="http://schemas.openxmlformats.org/drawingml/2006/main" noGrp="1"/>
          </p:cNvSpPr>
          <p:nvPr/>
        </p:nvSpPr>
        <p:spPr>
          <a:xfrm xmlns:a="http://schemas.openxmlformats.org/drawingml/2006/main">
            <a:off x="685800" y="1762125"/>
            <a:ext cx="4857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Clicking Generate sends the File in multipart/form-data to POST /upload.</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server checks the request size, allowed filename suffix, and decoded image content before writing the upload to disk.</a:t>
            </a:r>
          </a:p>
        </p:txBody>
      </p:sp>
      <p:sp>
        <p:nvSpPr>
          <p:cNvPr id="6" name="">
            <a:extLst xmlns:a="http://schemas.openxmlformats.org/drawingml/2006/main">
              <a:ext uri="{FF2B5EF4-FFF2-40B4-BE49-F238E27FC236}">
                <a16:creationId xmlns:a16="http://schemas.microsoft.com/office/drawing/2014/main" id="{747555F8-FF2F-4E85-914C-88828F921CB3}"/>
              </a:ext>
            </a:extLst>
          </p:cNvPr>
          <p:cNvSpPr>
            <a:spLocks xmlns:a="http://schemas.openxmlformats.org/drawingml/2006/main" noGrp="1"/>
          </p:cNvSpPr>
          <p:nvPr/>
        </p:nvSpPr>
        <p:spPr>
          <a:xfrm xmlns:a="http://schemas.openxmlformats.org/drawingml/2006/main">
            <a:off x="6191250" y="1657350"/>
            <a:ext cx="5334000" cy="34290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ALLOWED_IMAGE_EXTS =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".png", ".jpg", ".jpeg", ".webp"</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ext_in = os.path.splitext(filename_in)[1].lower()</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ext_in not in ALLOWED_IMAGE_EXTS: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raise ValueError("Unsupported image type")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with Image.open(io.BytesIO(data_in)) as img: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img.verify()</a:t>
            </a:r>
          </a:p>
        </p:txBody>
      </p:sp>
      <p:sp>
        <p:nvSpPr>
          <p:cNvPr id="7" name="">
            <a:extLst xmlns:a="http://schemas.openxmlformats.org/drawingml/2006/main">
              <a:ext uri="{FF2B5EF4-FFF2-40B4-BE49-F238E27FC236}">
                <a16:creationId xmlns:a16="http://schemas.microsoft.com/office/drawing/2014/main" id="{D6BDACF0-F57A-4134-942F-D08C1A8305B7}"/>
              </a:ext>
            </a:extLst>
          </p:cNvPr>
          <p:cNvSpPr>
            <a:spLocks xmlns:a="http://schemas.openxmlformats.org/drawingml/2006/main" noGrp="1"/>
          </p:cNvSpPr>
          <p:nvPr/>
        </p:nvSpPr>
        <p:spPr>
          <a:xfrm xmlns:a="http://schemas.openxmlformats.org/drawingml/2006/main">
            <a:off x="6191250" y="52197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JS/DropImage.js:463–495 · server.py:14–16, 820–835</a:t>
            </a:r>
          </a:p>
        </p:txBody>
      </p:sp>
      <p:sp>
        <p:nvSpPr>
          <p:cNvPr id="8" name="">
            <a:extLst xmlns:a="http://schemas.openxmlformats.org/drawingml/2006/main">
              <a:ext uri="{FF2B5EF4-FFF2-40B4-BE49-F238E27FC236}">
                <a16:creationId xmlns:a16="http://schemas.microsoft.com/office/drawing/2014/main" id="{818BC1D6-06AA-438A-BEE0-382D0794A961}"/>
              </a:ext>
            </a:extLst>
          </p:cNvPr>
          <p:cNvSpPr>
            <a:spLocks xmlns:a="http://schemas.openxmlformats.org/drawingml/2006/main" noGrp="1"/>
          </p:cNvSpPr>
          <p:nvPr/>
        </p:nvSpPr>
        <p:spPr>
          <a:xfrm xmlns:a="http://schemas.openxmlformats.org/drawingml/2006/main">
            <a:off x="685800" y="5715000"/>
            <a:ext cx="10572750" cy="514350"/>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42B36"/>
                </a:solidFill>
                <a:latin typeface="Arial"/>
                <a:ea typeface="Arial"/>
                <a:cs typeface="Arial"/>
              </a:defRPr>
            </a:pPr>
            <a:r>
              <a:rPr sz="1650" b="1" i="0">
                <a:solidFill>
                  <a:srgbClr val="142B36"/>
                </a:solidFill>
                <a:latin typeface="Arial"/>
                <a:ea typeface="Arial"/>
                <a:cs typeface="Arial"/>
              </a:rPr>
              <a:t>The server checks actual content with Pillow; extension and browser MIME are not enough.</a:t>
            </a:r>
          </a:p>
        </p:txBody>
      </p:sp>
    </p:spTree>
    <p:extLst>
      <p:ext uri="{BB962C8B-B14F-4D97-AF65-F5344CB8AC3E}">
        <p14:creationId xmlns:p14="http://schemas.microsoft.com/office/powerpoint/2010/main" val="648925774"/>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B92EF5-8DA2-45D0-8D8A-846B87C0FE6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F0490E9B-D79F-47BC-B48C-8F73B0AC3E77}"/>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4: UUID filename and upload storage</a:t>
            </a:r>
          </a:p>
        </p:txBody>
      </p:sp>
      <p:sp>
        <p:nvSpPr>
          <p:cNvPr id="3" name="">
            <a:extLst xmlns:a="http://schemas.openxmlformats.org/drawingml/2006/main">
              <a:ext uri="{FF2B5EF4-FFF2-40B4-BE49-F238E27FC236}">
                <a16:creationId xmlns:a16="http://schemas.microsoft.com/office/drawing/2014/main" id="{25C3601B-EECE-40F3-8717-92EAC71669E1}"/>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9D38857D-5E34-4A23-9018-17FF417971F4}"/>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D8F3FAE-9C3C-4C23-946E-882AD5795585}"/>
              </a:ext>
            </a:extLst>
          </p:cNvPr>
          <p:cNvSpPr>
            <a:spLocks xmlns:a="http://schemas.openxmlformats.org/drawingml/2006/main" noGrp="1"/>
          </p:cNvSpPr>
          <p:nvPr/>
        </p:nvSpPr>
        <p:spPr>
          <a:xfrm xmlns:a="http://schemas.openxmlformats.org/drawingml/2006/main">
            <a:off x="685800" y="1809750"/>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Only after validation succeeds, the server creates a UUID filename and writes the bytes into uploads/.</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user’s original name is not used as the disk filename. The validated suffix is kept.</a:t>
            </a:r>
          </a:p>
        </p:txBody>
      </p:sp>
      <p:sp>
        <p:nvSpPr>
          <p:cNvPr id="6" name="">
            <a:extLst xmlns:a="http://schemas.openxmlformats.org/drawingml/2006/main">
              <a:ext uri="{FF2B5EF4-FFF2-40B4-BE49-F238E27FC236}">
                <a16:creationId xmlns:a16="http://schemas.microsoft.com/office/drawing/2014/main" id="{6B57ACED-71D0-4D70-ADDD-4481D5FA4375}"/>
              </a:ext>
            </a:extLst>
          </p:cNvPr>
          <p:cNvSpPr>
            <a:spLocks xmlns:a="http://schemas.openxmlformats.org/drawingml/2006/main" noGrp="1"/>
          </p:cNvSpPr>
          <p:nvPr/>
        </p:nvSpPr>
        <p:spPr>
          <a:xfrm xmlns:a="http://schemas.openxmlformats.org/drawingml/2006/main">
            <a:off x="6191250" y="1809750"/>
            <a:ext cx="5334000" cy="28575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ext = validate_image_payload(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item_filename, item_data</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filename = str(uuid.uuid4()) + ext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filepath = os.path.join(UPLOAD_FOLDER, filename)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with open(filepath, "wb") as f:</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f.write(item_data)</a:t>
            </a:r>
          </a:p>
        </p:txBody>
      </p:sp>
      <p:sp>
        <p:nvSpPr>
          <p:cNvPr id="7" name="">
            <a:extLst xmlns:a="http://schemas.openxmlformats.org/drawingml/2006/main">
              <a:ext uri="{FF2B5EF4-FFF2-40B4-BE49-F238E27FC236}">
                <a16:creationId xmlns:a16="http://schemas.microsoft.com/office/drawing/2014/main" id="{AA86A791-2ADB-409B-9416-507296C4FEA7}"/>
              </a:ext>
            </a:extLst>
          </p:cNvPr>
          <p:cNvSpPr>
            <a:spLocks xmlns:a="http://schemas.openxmlformats.org/drawingml/2006/main" noGrp="1"/>
          </p:cNvSpPr>
          <p:nvPr/>
        </p:nvSpPr>
        <p:spPr>
          <a:xfrm xmlns:a="http://schemas.openxmlformats.org/drawingml/2006/main">
            <a:off x="6191250" y="48006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server.py:837–843</a:t>
            </a:r>
          </a:p>
        </p:txBody>
      </p:sp>
      <p:sp>
        <p:nvSpPr>
          <p:cNvPr id="8" name="">
            <a:extLst xmlns:a="http://schemas.openxmlformats.org/drawingml/2006/main">
              <a:ext uri="{FF2B5EF4-FFF2-40B4-BE49-F238E27FC236}">
                <a16:creationId xmlns:a16="http://schemas.microsoft.com/office/drawing/2014/main" id="{8703BF3D-C5E2-4BE9-B360-F360F34FC492}"/>
              </a:ext>
            </a:extLst>
          </p:cNvPr>
          <p:cNvSpPr>
            <a:spLocks xmlns:a="http://schemas.openxmlformats.org/drawingml/2006/main" noGrp="1"/>
          </p:cNvSpPr>
          <p:nvPr/>
        </p:nvSpPr>
        <p:spPr>
          <a:xfrm xmlns:a="http://schemas.openxmlformats.org/drawingml/2006/main">
            <a:off x="68580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i="0">
                <a:solidFill>
                  <a:srgbClr val="087E83"/>
                </a:solidFill>
                <a:latin typeface="Arial"/>
                <a:ea typeface="Arial"/>
                <a:cs typeface="Arial"/>
              </a:defRPr>
            </a:pPr>
            <a:r>
              <a:rPr sz="1875" b="1" i="0">
                <a:solidFill>
                  <a:srgbClr val="087E83"/>
                </a:solidFill>
                <a:latin typeface="Arial"/>
                <a:ea typeface="Arial"/>
                <a:cs typeface="Arial"/>
              </a:rPr>
              <a:t>Validation → UUID name → write to uploads/ → image processing</a:t>
            </a:r>
          </a:p>
        </p:txBody>
      </p:sp>
    </p:spTree>
    <p:extLst>
      <p:ext uri="{BB962C8B-B14F-4D97-AF65-F5344CB8AC3E}">
        <p14:creationId xmlns:p14="http://schemas.microsoft.com/office/powerpoint/2010/main" val="789664332"/>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446007-9208-4FA9-8A40-D54D3B9C053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26823B2C-F648-4D40-83F8-2FB307F0DB9E}"/>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5: Background removal with rembg</a:t>
            </a:r>
          </a:p>
        </p:txBody>
      </p:sp>
      <p:sp>
        <p:nvSpPr>
          <p:cNvPr id="3" name="">
            <a:extLst xmlns:a="http://schemas.openxmlformats.org/drawingml/2006/main">
              <a:ext uri="{FF2B5EF4-FFF2-40B4-BE49-F238E27FC236}">
                <a16:creationId xmlns:a16="http://schemas.microsoft.com/office/drawing/2014/main" id="{DE923498-6E39-4A9E-9A6B-C53490DBE930}"/>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88CE3CEA-DC40-422B-9FCA-A87B84C96C4B}"/>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3C57FE9-4820-47A0-B3B8-D14211469B4D}"/>
              </a:ext>
            </a:extLst>
          </p:cNvPr>
          <p:cNvSpPr>
            <a:spLocks xmlns:a="http://schemas.openxmlformats.org/drawingml/2006/main" noGrp="1"/>
          </p:cNvSpPr>
          <p:nvPr/>
        </p:nvSpPr>
        <p:spPr>
          <a:xfrm xmlns:a="http://schemas.openxmlformats.org/drawingml/2006/main">
            <a:off x="685800" y="1685925"/>
            <a:ext cx="5143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project loads the IS-Net general-use model. It estimates a foreground mask from learned visual patterns—shape, boundaries, and context. It does not use a fixed “not white = object” rule.</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estimate can be imperfect. If rembg raises an error, the code logs it and falls back to the original image.</a:t>
            </a:r>
          </a:p>
        </p:txBody>
      </p:sp>
      <p:sp>
        <p:nvSpPr>
          <p:cNvPr id="6" name="">
            <a:extLst xmlns:a="http://schemas.openxmlformats.org/drawingml/2006/main">
              <a:ext uri="{FF2B5EF4-FFF2-40B4-BE49-F238E27FC236}">
                <a16:creationId xmlns:a16="http://schemas.microsoft.com/office/drawing/2014/main" id="{E50E5DA0-551D-4291-A616-FA3F84511E0E}"/>
              </a:ext>
            </a:extLst>
          </p:cNvPr>
          <p:cNvSpPr>
            <a:spLocks xmlns:a="http://schemas.openxmlformats.org/drawingml/2006/main" noGrp="1"/>
          </p:cNvSpPr>
          <p:nvPr/>
        </p:nvSpPr>
        <p:spPr>
          <a:xfrm xmlns:a="http://schemas.openxmlformats.org/drawingml/2006/main">
            <a:off x="6343650" y="1809750"/>
            <a:ext cx="5143500" cy="2428875"/>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def load_rembg():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from rembg import new_session</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return new_session("isnet-general-use")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removed = remove(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white_bg, session=load_rembg()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3984F62D-33A8-48B3-AD26-AD7E43A8824D}"/>
              </a:ext>
            </a:extLst>
          </p:cNvPr>
          <p:cNvSpPr>
            <a:spLocks xmlns:a="http://schemas.openxmlformats.org/drawingml/2006/main" noGrp="1"/>
          </p:cNvSpPr>
          <p:nvPr/>
        </p:nvSpPr>
        <p:spPr>
          <a:xfrm xmlns:a="http://schemas.openxmlformats.org/drawingml/2006/main">
            <a:off x="6343650" y="43719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processor.py:88–93, 212–225</a:t>
            </a:r>
          </a:p>
        </p:txBody>
      </p:sp>
      <p:sp>
        <p:nvSpPr>
          <p:cNvPr id="8" name="">
            <a:extLst xmlns:a="http://schemas.openxmlformats.org/drawingml/2006/main">
              <a:ext uri="{FF2B5EF4-FFF2-40B4-BE49-F238E27FC236}">
                <a16:creationId xmlns:a16="http://schemas.microsoft.com/office/drawing/2014/main" id="{9ADD3BCC-B8D3-4E88-A41D-D9F246B139FC}"/>
              </a:ext>
            </a:extLst>
          </p:cNvPr>
          <p:cNvSpPr>
            <a:spLocks xmlns:a="http://schemas.openxmlformats.org/drawingml/2006/main" noGrp="1"/>
          </p:cNvSpPr>
          <p:nvPr/>
        </p:nvSpPr>
        <p:spPr>
          <a:xfrm xmlns:a="http://schemas.openxmlformats.org/drawingml/2006/main">
            <a:off x="685800" y="5724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The model predicts foreground pixels; it does not identify the object’s name.</a:t>
            </a:r>
          </a:p>
        </p:txBody>
      </p:sp>
    </p:spTree>
    <p:extLst>
      <p:ext uri="{BB962C8B-B14F-4D97-AF65-F5344CB8AC3E}">
        <p14:creationId xmlns:p14="http://schemas.microsoft.com/office/powerpoint/2010/main" val="1447132095"/>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1CD8C3-85BA-4CA5-9645-3C705EC41DB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D5A6C5AC-1D14-4960-AACE-D9B921715E20}"/>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6: Clean the mask and crop the subject</a:t>
            </a:r>
          </a:p>
        </p:txBody>
      </p:sp>
      <p:sp>
        <p:nvSpPr>
          <p:cNvPr id="3" name="">
            <a:extLst xmlns:a="http://schemas.openxmlformats.org/drawingml/2006/main">
              <a:ext uri="{FF2B5EF4-FFF2-40B4-BE49-F238E27FC236}">
                <a16:creationId xmlns:a16="http://schemas.microsoft.com/office/drawing/2014/main" id="{BF545721-813F-4885-BF34-5CEFEAEB118E}"/>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E337CF66-EBAC-48FC-BF0B-EDA76815B4B3}"/>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AB16B66-30A8-4CE9-8AC1-55BDA7DB7633}"/>
              </a:ext>
            </a:extLst>
          </p:cNvPr>
          <p:cNvSpPr>
            <a:spLocks xmlns:a="http://schemas.openxmlformats.org/drawingml/2006/main" noGrp="1"/>
          </p:cNvSpPr>
          <p:nvPr/>
        </p:nvSpPr>
        <p:spPr>
          <a:xfrm xmlns:a="http://schemas.openxmlformats.org/drawingml/2006/main">
            <a:off x="685800" y="1676400"/>
            <a:ext cx="53816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returned alpha channel becomes a binary mask at the default threshold 64/255.</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Cleanup shrinks tiny specks, keeps only the largest connected component, expands/smooths the mask, and thresholds it again.</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Then the code crops the foreground bounds, adds 12% padding, centers it in a square, and saves masked.png.</a:t>
            </a:r>
          </a:p>
        </p:txBody>
      </p:sp>
      <p:sp>
        <p:nvSpPr>
          <p:cNvPr id="6" name="">
            <a:extLst xmlns:a="http://schemas.openxmlformats.org/drawingml/2006/main">
              <a:ext uri="{FF2B5EF4-FFF2-40B4-BE49-F238E27FC236}">
                <a16:creationId xmlns:a16="http://schemas.microsoft.com/office/drawing/2014/main" id="{72B2CC5B-CA5D-4D01-A938-27C0C0F2B40A}"/>
              </a:ext>
            </a:extLst>
          </p:cNvPr>
          <p:cNvSpPr>
            <a:spLocks xmlns:a="http://schemas.openxmlformats.org/drawingml/2006/main" noGrp="1"/>
          </p:cNvSpPr>
          <p:nvPr/>
        </p:nvSpPr>
        <p:spPr>
          <a:xfrm xmlns:a="http://schemas.openxmlformats.org/drawingml/2006/main">
            <a:off x="6334125" y="1676400"/>
            <a:ext cx="5191125" cy="3667125"/>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FG_ALPHA_THRESHOLD = int(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os.environ.get("TRIGENIX_FG_ALPHA_THRESHOLD", "64")</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 = Image.fromarray((alpha_arr &gt;= FG_ALPHA_THRESHOLD)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.astype(np.uint8) * 255, "L")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keep largest connected region; expand + smooth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mask = _clean_mask(np.array(removed.split()[3]))</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img_rgba = subject_crop(Image.merge("RGBA", (r,g,b,mask)))</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img_rgba.save(f"{out_dir}/masked.png")</a:t>
            </a:r>
          </a:p>
        </p:txBody>
      </p:sp>
      <p:sp>
        <p:nvSpPr>
          <p:cNvPr id="7" name="">
            <a:extLst xmlns:a="http://schemas.openxmlformats.org/drawingml/2006/main">
              <a:ext uri="{FF2B5EF4-FFF2-40B4-BE49-F238E27FC236}">
                <a16:creationId xmlns:a16="http://schemas.microsoft.com/office/drawing/2014/main" id="{63933FBF-E3BE-4447-9621-803D3D5FE79D}"/>
              </a:ext>
            </a:extLst>
          </p:cNvPr>
          <p:cNvSpPr>
            <a:spLocks xmlns:a="http://schemas.openxmlformats.org/drawingml/2006/main" noGrp="1"/>
          </p:cNvSpPr>
          <p:nvPr/>
        </p:nvSpPr>
        <p:spPr>
          <a:xfrm xmlns:a="http://schemas.openxmlformats.org/drawingml/2006/main">
            <a:off x="6334125" y="54768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processor.py:32, 133–160, 212–226</a:t>
            </a:r>
          </a:p>
        </p:txBody>
      </p:sp>
      <p:sp>
        <p:nvSpPr>
          <p:cNvPr id="8" name="">
            <a:extLst xmlns:a="http://schemas.openxmlformats.org/drawingml/2006/main">
              <a:ext uri="{FF2B5EF4-FFF2-40B4-BE49-F238E27FC236}">
                <a16:creationId xmlns:a16="http://schemas.microsoft.com/office/drawing/2014/main" id="{5EDE3DC5-D09F-47D6-B85E-5736DBB6F001}"/>
              </a:ext>
            </a:extLst>
          </p:cNvPr>
          <p:cNvSpPr>
            <a:spLocks xmlns:a="http://schemas.openxmlformats.org/drawingml/2006/main" noGrp="1"/>
          </p:cNvSpPr>
          <p:nvPr/>
        </p:nvSpPr>
        <p:spPr>
          <a:xfrm xmlns:a="http://schemas.openxmlformats.org/drawingml/2006/main">
            <a:off x="685800" y="59245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52646A"/>
                </a:solidFill>
                <a:latin typeface="Arial"/>
                <a:ea typeface="Arial"/>
                <a:cs typeface="Arial"/>
              </a:defRPr>
            </a:pPr>
            <a:r>
              <a:rPr sz="1500" b="1" i="0">
                <a:solidFill>
                  <a:srgbClr val="52646A"/>
                </a:solidFill>
                <a:latin typeface="Arial"/>
                <a:ea typeface="Arial"/>
                <a:cs typeface="Arial"/>
              </a:rPr>
              <a:t>The largest-component rule can also discard a real disconnected part of the object.</a:t>
            </a:r>
          </a:p>
        </p:txBody>
      </p:sp>
    </p:spTree>
    <p:extLst>
      <p:ext uri="{BB962C8B-B14F-4D97-AF65-F5344CB8AC3E}">
        <p14:creationId xmlns:p14="http://schemas.microsoft.com/office/powerpoint/2010/main" val="657951932"/>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565947-5426-4707-BA04-5094DB98944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FB466F25-77F3-4C09-9A13-033D8C3CC125}"/>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7: Estimate the object’s pose</a:t>
            </a:r>
          </a:p>
        </p:txBody>
      </p:sp>
      <p:sp>
        <p:nvSpPr>
          <p:cNvPr id="3" name="">
            <a:extLst xmlns:a="http://schemas.openxmlformats.org/drawingml/2006/main">
              <a:ext uri="{FF2B5EF4-FFF2-40B4-BE49-F238E27FC236}">
                <a16:creationId xmlns:a16="http://schemas.microsoft.com/office/drawing/2014/main" id="{F6D0BAB3-99A4-443E-A487-074EC44FE12D}"/>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42846B9C-54EB-4F57-BBC6-D02245CD6A60}"/>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2BFEDBE-0569-4DD3-80D0-559C8ED73292}"/>
              </a:ext>
            </a:extLst>
          </p:cNvPr>
          <p:cNvSpPr>
            <a:spLocks xmlns:a="http://schemas.openxmlformats.org/drawingml/2006/main" noGrp="1"/>
          </p:cNvSpPr>
          <p:nvPr/>
        </p:nvSpPr>
        <p:spPr>
          <a:xfrm xmlns:a="http://schemas.openxmlformats.org/drawingml/2006/main">
            <a:off x="685800" y="1714500"/>
            <a:ext cx="5429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pose estimator reuses masked.png’s alpha mask. It measures the foreground silhouette to estimate orientation and framing.</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PCA finds the major axis from foreground pixel coordinates. Left-right symmetry and the bounding box help estimate roll, azimuth, elevation, and distance.</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This is a 2D silhouette-based estimate, not true 3D pose recovery.</a:t>
            </a:r>
          </a:p>
        </p:txBody>
      </p:sp>
      <p:sp>
        <p:nvSpPr>
          <p:cNvPr id="6" name="">
            <a:extLst xmlns:a="http://schemas.openxmlformats.org/drawingml/2006/main">
              <a:ext uri="{FF2B5EF4-FFF2-40B4-BE49-F238E27FC236}">
                <a16:creationId xmlns:a16="http://schemas.microsoft.com/office/drawing/2014/main" id="{3C5F7911-AF8B-4D97-A2F3-EC95544908F4}"/>
              </a:ext>
            </a:extLst>
          </p:cNvPr>
          <p:cNvSpPr>
            <a:spLocks xmlns:a="http://schemas.openxmlformats.org/drawingml/2006/main" noGrp="1"/>
          </p:cNvSpPr>
          <p:nvPr/>
        </p:nvSpPr>
        <p:spPr>
          <a:xfrm xmlns:a="http://schemas.openxmlformats.org/drawingml/2006/main">
            <a:off x="6362700" y="1809750"/>
            <a:ext cx="5143500" cy="2952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pts_c = pts - pts.mean(axis=0)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cov = (pts_c.T @ pts_c) / len(pts_c)</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eigvals, eigvecs = np.linalg.eigh(cov)</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major = eigvecs[:, 1]</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angle = np.degrees(np.arctan2(</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major[1], major[0]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result.upright = aspect &lt; 0.75</a:t>
            </a:r>
          </a:p>
        </p:txBody>
      </p:sp>
      <p:sp>
        <p:nvSpPr>
          <p:cNvPr id="7" name="">
            <a:extLst xmlns:a="http://schemas.openxmlformats.org/drawingml/2006/main">
              <a:ext uri="{FF2B5EF4-FFF2-40B4-BE49-F238E27FC236}">
                <a16:creationId xmlns:a16="http://schemas.microsoft.com/office/drawing/2014/main" id="{103AB56D-1E6E-4189-85DE-BC384502A7FC}"/>
              </a:ext>
            </a:extLst>
          </p:cNvPr>
          <p:cNvSpPr>
            <a:spLocks xmlns:a="http://schemas.openxmlformats.org/drawingml/2006/main" noGrp="1"/>
          </p:cNvSpPr>
          <p:nvPr/>
        </p:nvSpPr>
        <p:spPr>
          <a:xfrm xmlns:a="http://schemas.openxmlformats.org/drawingml/2006/main">
            <a:off x="6362700" y="4895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pose_estimator.py:63–74, 90–108</a:t>
            </a:r>
          </a:p>
        </p:txBody>
      </p:sp>
      <p:sp>
        <p:nvSpPr>
          <p:cNvPr id="8" name="">
            <a:extLst xmlns:a="http://schemas.openxmlformats.org/drawingml/2006/main">
              <a:ext uri="{FF2B5EF4-FFF2-40B4-BE49-F238E27FC236}">
                <a16:creationId xmlns:a16="http://schemas.microsoft.com/office/drawing/2014/main" id="{A9259645-508C-4E95-9C55-E3BAB52E849E}"/>
              </a:ext>
            </a:extLst>
          </p:cNvPr>
          <p:cNvSpPr>
            <a:spLocks xmlns:a="http://schemas.openxmlformats.org/drawingml/2006/main" noGrp="1"/>
          </p:cNvSpPr>
          <p:nvPr/>
        </p:nvSpPr>
        <p:spPr>
          <a:xfrm xmlns:a="http://schemas.openxmlformats.org/drawingml/2006/main">
            <a:off x="685800" y="59150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If pose estimation fails, the pipeline logs a warning and continues.</a:t>
            </a:r>
          </a:p>
        </p:txBody>
      </p:sp>
    </p:spTree>
    <p:extLst>
      <p:ext uri="{BB962C8B-B14F-4D97-AF65-F5344CB8AC3E}">
        <p14:creationId xmlns:p14="http://schemas.microsoft.com/office/powerpoint/2010/main" val="479917275"/>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42576B-7565-4ED7-B91A-BEF504A2EEB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B62F2842-CCE9-47FA-875F-22EB4CDA6066}"/>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8: Generate views and estimate depth</a:t>
            </a:r>
          </a:p>
        </p:txBody>
      </p:sp>
      <p:sp>
        <p:nvSpPr>
          <p:cNvPr id="3" name="">
            <a:extLst xmlns:a="http://schemas.openxmlformats.org/drawingml/2006/main">
              <a:ext uri="{FF2B5EF4-FFF2-40B4-BE49-F238E27FC236}">
                <a16:creationId xmlns:a16="http://schemas.microsoft.com/office/drawing/2014/main" id="{3A6E6FFA-6E2D-4BE1-B2F6-C207D33387DA}"/>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3FA3FF8B-05D7-4991-A3F8-54428B356DB5}"/>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B82F5D3-8AB7-4C64-B4F6-F194575EB88A}"/>
              </a:ext>
            </a:extLst>
          </p:cNvPr>
          <p:cNvSpPr>
            <a:spLocks xmlns:a="http://schemas.openxmlformats.org/drawingml/2006/main" noGrp="1"/>
          </p:cNvSpPr>
          <p:nvPr/>
        </p:nvSpPr>
        <p:spPr>
          <a:xfrm xmlns:a="http://schemas.openxmlformats.org/drawingml/2006/main">
            <a:off x="685800" y="1714500"/>
            <a:ext cx="53340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With one photo, Zero123++ synthesizes six additional views. If the user provided six extra photos, the project prepares those instead.</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Depth Anything estimates relative depth for the front image and views. These maps are useful visual outputs, but the current TripoSR geometry path does not consume them as calibrated depth.</a:t>
            </a:r>
          </a:p>
        </p:txBody>
      </p:sp>
      <p:sp>
        <p:nvSpPr>
          <p:cNvPr id="6" name="">
            <a:extLst xmlns:a="http://schemas.openxmlformats.org/drawingml/2006/main">
              <a:ext uri="{FF2B5EF4-FFF2-40B4-BE49-F238E27FC236}">
                <a16:creationId xmlns:a16="http://schemas.microsoft.com/office/drawing/2014/main" id="{28EC9A25-091F-498E-8041-15ED4B2834B0}"/>
              </a:ext>
            </a:extLst>
          </p:cNvPr>
          <p:cNvSpPr>
            <a:spLocks xmlns:a="http://schemas.openxmlformats.org/drawingml/2006/main" noGrp="1"/>
          </p:cNvSpPr>
          <p:nvPr/>
        </p:nvSpPr>
        <p:spPr>
          <a:xfrm xmlns:a="http://schemas.openxmlformats.org/drawingml/2006/main">
            <a:off x="6334125" y="1809750"/>
            <a:ext cx="5191125" cy="32385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grid = pipe(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img_in, num_inference_steps=25</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).images[0]</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front_rgb = img_rgba.convert("RGB").resize((320, 320))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all_images = [front_rgb] +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v.resize((320, 320)) for v in views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estimate_depths(all_images, out_dir)</a:t>
            </a:r>
          </a:p>
        </p:txBody>
      </p:sp>
      <p:sp>
        <p:nvSpPr>
          <p:cNvPr id="7" name="">
            <a:extLst xmlns:a="http://schemas.openxmlformats.org/drawingml/2006/main">
              <a:ext uri="{FF2B5EF4-FFF2-40B4-BE49-F238E27FC236}">
                <a16:creationId xmlns:a16="http://schemas.microsoft.com/office/drawing/2014/main" id="{0CF1844D-4D97-4225-A4CA-A7BF2921E3D6}"/>
              </a:ext>
            </a:extLst>
          </p:cNvPr>
          <p:cNvSpPr>
            <a:spLocks xmlns:a="http://schemas.openxmlformats.org/drawingml/2006/main" noGrp="1"/>
          </p:cNvSpPr>
          <p:nvPr/>
        </p:nvSpPr>
        <p:spPr>
          <a:xfrm xmlns:a="http://schemas.openxmlformats.org/drawingml/2006/main">
            <a:off x="6334125" y="51816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processor.py:309–354, 465–478</a:t>
            </a:r>
          </a:p>
        </p:txBody>
      </p:sp>
      <p:sp>
        <p:nvSpPr>
          <p:cNvPr id="8" name="">
            <a:extLst xmlns:a="http://schemas.openxmlformats.org/drawingml/2006/main">
              <a:ext uri="{FF2B5EF4-FFF2-40B4-BE49-F238E27FC236}">
                <a16:creationId xmlns:a16="http://schemas.microsoft.com/office/drawing/2014/main" id="{29BC996E-C2DC-462F-A6AB-4F435993D729}"/>
              </a:ext>
            </a:extLst>
          </p:cNvPr>
          <p:cNvSpPr>
            <a:spLocks xmlns:a="http://schemas.openxmlformats.org/drawingml/2006/main" noGrp="1"/>
          </p:cNvSpPr>
          <p:nvPr/>
        </p:nvSpPr>
        <p:spPr>
          <a:xfrm xmlns:a="http://schemas.openxmlformats.org/drawingml/2006/main">
            <a:off x="68580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Synthesized views are AI predictions of unseen sides—not real photographs.</a:t>
            </a:r>
          </a:p>
        </p:txBody>
      </p:sp>
    </p:spTree>
    <p:extLst>
      <p:ext uri="{BB962C8B-B14F-4D97-AF65-F5344CB8AC3E}">
        <p14:creationId xmlns:p14="http://schemas.microsoft.com/office/powerpoint/2010/main" val="825005076"/>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444A28-2ACA-4499-B5F3-620963B0CF4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76A2701D-C10E-40A6-A040-4EDC2C3FFADB}"/>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9: Reconstruct a 3D shape</a:t>
            </a:r>
          </a:p>
        </p:txBody>
      </p:sp>
      <p:sp>
        <p:nvSpPr>
          <p:cNvPr id="3" name="">
            <a:extLst xmlns:a="http://schemas.openxmlformats.org/drawingml/2006/main">
              <a:ext uri="{FF2B5EF4-FFF2-40B4-BE49-F238E27FC236}">
                <a16:creationId xmlns:a16="http://schemas.microsoft.com/office/drawing/2014/main" id="{3354211E-30A3-4E72-850C-87AA08E8D308}"/>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C0E7D4CC-3E89-411F-AE81-356D06E0ACC8}"/>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CAE983A-8A95-47C1-A019-BC72E5F5CE56}"/>
              </a:ext>
            </a:extLst>
          </p:cNvPr>
          <p:cNvSpPr>
            <a:spLocks xmlns:a="http://schemas.openxmlformats.org/drawingml/2006/main" noGrp="1"/>
          </p:cNvSpPr>
          <p:nvPr/>
        </p:nvSpPr>
        <p:spPr>
          <a:xfrm xmlns:a="http://schemas.openxmlformats.org/drawingml/2006/main">
            <a:off x="685800" y="1714500"/>
            <a:ext cx="5381625"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A background worker loads the masked front image and views, then selects an available backend.</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In the TripoSR path, the model predicts a 3D representation from the masked front photo and extracts a triangle mesh. Generated views are used later for color repainting, not TripoSR shape geometry.</a:t>
            </a:r>
          </a:p>
        </p:txBody>
      </p:sp>
      <p:sp>
        <p:nvSpPr>
          <p:cNvPr id="6" name="">
            <a:extLst xmlns:a="http://schemas.openxmlformats.org/drawingml/2006/main">
              <a:ext uri="{FF2B5EF4-FFF2-40B4-BE49-F238E27FC236}">
                <a16:creationId xmlns:a16="http://schemas.microsoft.com/office/drawing/2014/main" id="{972CAF03-6C23-48B5-84C2-1CD72C5AF3D6}"/>
              </a:ext>
            </a:extLst>
          </p:cNvPr>
          <p:cNvSpPr>
            <a:spLocks xmlns:a="http://schemas.openxmlformats.org/drawingml/2006/main" noGrp="1"/>
          </p:cNvSpPr>
          <p:nvPr/>
        </p:nvSpPr>
        <p:spPr>
          <a:xfrm xmlns:a="http://schemas.openxmlformats.org/drawingml/2006/main">
            <a:off x="6334125" y="1809750"/>
            <a:ext cx="5191125" cy="2952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scene_codes = model([image], device=device)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meshes = model.extract_mesh(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scene_codes,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has_vertex_color=True,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resolution=res,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meshes[0]</a:t>
            </a:r>
          </a:p>
        </p:txBody>
      </p:sp>
      <p:sp>
        <p:nvSpPr>
          <p:cNvPr id="7" name="">
            <a:extLst xmlns:a="http://schemas.openxmlformats.org/drawingml/2006/main">
              <a:ext uri="{FF2B5EF4-FFF2-40B4-BE49-F238E27FC236}">
                <a16:creationId xmlns:a16="http://schemas.microsoft.com/office/drawing/2014/main" id="{3F229C39-9997-4E56-A155-3BFD7FFAFFDD}"/>
              </a:ext>
            </a:extLst>
          </p:cNvPr>
          <p:cNvSpPr>
            <a:spLocks xmlns:a="http://schemas.openxmlformats.org/drawingml/2006/main" noGrp="1"/>
          </p:cNvSpPr>
          <p:nvPr/>
        </p:nvSpPr>
        <p:spPr>
          <a:xfrm xmlns:a="http://schemas.openxmlformats.org/drawingml/2006/main">
            <a:off x="6334125" y="48958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reconstructor.py:2253–2270, 2621–2670</a:t>
            </a:r>
          </a:p>
        </p:txBody>
      </p:sp>
      <p:sp>
        <p:nvSpPr>
          <p:cNvPr id="8" name="">
            <a:extLst xmlns:a="http://schemas.openxmlformats.org/drawingml/2006/main">
              <a:ext uri="{FF2B5EF4-FFF2-40B4-BE49-F238E27FC236}">
                <a16:creationId xmlns:a16="http://schemas.microsoft.com/office/drawing/2014/main" id="{ED4E302C-5AF1-4DBC-AC85-E52B1CDE3C2C}"/>
              </a:ext>
            </a:extLst>
          </p:cNvPr>
          <p:cNvSpPr>
            <a:spLocks xmlns:a="http://schemas.openxmlformats.org/drawingml/2006/main" noGrp="1"/>
          </p:cNvSpPr>
          <p:nvPr/>
        </p:nvSpPr>
        <p:spPr>
          <a:xfrm xmlns:a="http://schemas.openxmlformats.org/drawingml/2006/main">
            <a:off x="6858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087E83"/>
                </a:solidFill>
                <a:latin typeface="Arial"/>
                <a:ea typeface="Arial"/>
                <a:cs typeface="Arial"/>
              </a:defRPr>
            </a:pPr>
            <a:r>
              <a:rPr sz="1725" b="1" i="0">
                <a:solidFill>
                  <a:srgbClr val="087E83"/>
                </a:solidFill>
                <a:latin typeface="Arial"/>
                <a:ea typeface="Arial"/>
                <a:cs typeface="Arial"/>
              </a:rPr>
              <a:t>Mesh = vertices (3D points) + faces (triangles joining those points).</a:t>
            </a:r>
          </a:p>
        </p:txBody>
      </p:sp>
    </p:spTree>
    <p:extLst>
      <p:ext uri="{BB962C8B-B14F-4D97-AF65-F5344CB8AC3E}">
        <p14:creationId xmlns:p14="http://schemas.microsoft.com/office/powerpoint/2010/main" val="833038391"/>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2BD0B3-D199-4B70-8601-8C16E9BE7A7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8014428B-6287-41A0-B6AF-EC4A88F9E3FF}"/>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10: Repair, orient, and check the mesh</a:t>
            </a:r>
          </a:p>
        </p:txBody>
      </p:sp>
      <p:sp>
        <p:nvSpPr>
          <p:cNvPr id="3" name="">
            <a:extLst xmlns:a="http://schemas.openxmlformats.org/drawingml/2006/main">
              <a:ext uri="{FF2B5EF4-FFF2-40B4-BE49-F238E27FC236}">
                <a16:creationId xmlns:a16="http://schemas.microsoft.com/office/drawing/2014/main" id="{A3D59927-1D7C-46E3-A91E-BB9648826449}"/>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C331E200-636D-41D7-AAE8-C723DFE3E3BE}"/>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7DBAA81-29F6-4216-A35E-1339FA9D2A35}"/>
              </a:ext>
            </a:extLst>
          </p:cNvPr>
          <p:cNvSpPr>
            <a:spLocks xmlns:a="http://schemas.openxmlformats.org/drawingml/2006/main" noGrp="1"/>
          </p:cNvSpPr>
          <p:nvPr/>
        </p:nvSpPr>
        <p:spPr>
          <a:xfrm xmlns:a="http://schemas.openxmlformats.org/drawingml/2006/main">
            <a:off x="685800" y="16954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mesh is checked before and after cleanup. The cleanup keeps the largest component, repairs common defects, and may simplify meshes depending on the backend. Then the project orients and normalizes it.</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Silhouette IoU compares a rendered silhouette against an input silhouette:</a:t>
            </a:r>
          </a:p>
        </p:txBody>
      </p:sp>
      <p:sp>
        <p:nvSpPr>
          <p:cNvPr id="6" name="">
            <a:extLst xmlns:a="http://schemas.openxmlformats.org/drawingml/2006/main">
              <a:ext uri="{FF2B5EF4-FFF2-40B4-BE49-F238E27FC236}">
                <a16:creationId xmlns:a16="http://schemas.microsoft.com/office/drawing/2014/main" id="{C4D9FE1F-212F-40DF-AFAE-DA0BA79DE3CD}"/>
              </a:ext>
            </a:extLst>
          </p:cNvPr>
          <p:cNvSpPr>
            <a:spLocks xmlns:a="http://schemas.openxmlformats.org/drawingml/2006/main" noGrp="1"/>
          </p:cNvSpPr>
          <p:nvPr/>
        </p:nvSpPr>
        <p:spPr>
          <a:xfrm xmlns:a="http://schemas.openxmlformats.org/drawingml/2006/main">
            <a:off x="819150" y="5048250"/>
            <a:ext cx="4857750" cy="523875"/>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i="0">
                <a:solidFill>
                  <a:srgbClr val="087E83"/>
                </a:solidFill>
                <a:latin typeface="Arial"/>
                <a:ea typeface="Arial"/>
                <a:cs typeface="Arial"/>
              </a:defRPr>
            </a:pPr>
            <a:r>
              <a:rPr sz="1950" b="1" i="0">
                <a:solidFill>
                  <a:srgbClr val="087E83"/>
                </a:solidFill>
                <a:latin typeface="Arial"/>
                <a:ea typeface="Arial"/>
                <a:cs typeface="Arial"/>
              </a:rPr>
              <a:t>IoU = overlap area ÷ combined area</a:t>
            </a:r>
          </a:p>
        </p:txBody>
      </p:sp>
      <p:sp>
        <p:nvSpPr>
          <p:cNvPr id="7" name="">
            <a:extLst xmlns:a="http://schemas.openxmlformats.org/drawingml/2006/main">
              <a:ext uri="{FF2B5EF4-FFF2-40B4-BE49-F238E27FC236}">
                <a16:creationId xmlns:a16="http://schemas.microsoft.com/office/drawing/2014/main" id="{58EA591A-1405-4290-8D63-5ABC30F4FA22}"/>
              </a:ext>
            </a:extLst>
          </p:cNvPr>
          <p:cNvSpPr>
            <a:spLocks xmlns:a="http://schemas.openxmlformats.org/drawingml/2006/main" noGrp="1"/>
          </p:cNvSpPr>
          <p:nvPr/>
        </p:nvSpPr>
        <p:spPr>
          <a:xfrm xmlns:a="http://schemas.openxmlformats.org/drawingml/2006/main">
            <a:off x="6334125" y="1809750"/>
            <a:ext cx="5191125" cy="3143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validate_mesh_topology(mesh, "A-raw")</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cleanup(</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mesh, keep_largest=True,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_orient_and_normalize(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mesh, out_dir, target_dimensions_mm</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_sil_iou = _compute_silhouette_iou(mesh, views)</a:t>
            </a:r>
          </a:p>
        </p:txBody>
      </p:sp>
      <p:sp>
        <p:nvSpPr>
          <p:cNvPr id="8" name="">
            <a:extLst xmlns:a="http://schemas.openxmlformats.org/drawingml/2006/main">
              <a:ext uri="{FF2B5EF4-FFF2-40B4-BE49-F238E27FC236}">
                <a16:creationId xmlns:a16="http://schemas.microsoft.com/office/drawing/2014/main" id="{C3F4E3C1-02FC-48FD-AB4A-1BF31602E60B}"/>
              </a:ext>
            </a:extLst>
          </p:cNvPr>
          <p:cNvSpPr>
            <a:spLocks xmlns:a="http://schemas.openxmlformats.org/drawingml/2006/main" noGrp="1"/>
          </p:cNvSpPr>
          <p:nvPr/>
        </p:nvSpPr>
        <p:spPr>
          <a:xfrm xmlns:a="http://schemas.openxmlformats.org/drawingml/2006/main">
            <a:off x="6334125" y="5086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reconstructor.py:2299–2330</a:t>
            </a:r>
          </a:p>
        </p:txBody>
      </p:sp>
      <p:sp>
        <p:nvSpPr>
          <p:cNvPr id="9" name="">
            <a:extLst xmlns:a="http://schemas.openxmlformats.org/drawingml/2006/main">
              <a:ext uri="{FF2B5EF4-FFF2-40B4-BE49-F238E27FC236}">
                <a16:creationId xmlns:a16="http://schemas.microsoft.com/office/drawing/2014/main" id="{514BA3E7-3736-4DAD-B588-A69605626265}"/>
              </a:ext>
            </a:extLst>
          </p:cNvPr>
          <p:cNvSpPr>
            <a:spLocks xmlns:a="http://schemas.openxmlformats.org/drawingml/2006/main" noGrp="1"/>
          </p:cNvSpPr>
          <p:nvPr/>
        </p:nvSpPr>
        <p:spPr>
          <a:xfrm xmlns:a="http://schemas.openxmlformats.org/drawingml/2006/main">
            <a:off x="6858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52646A"/>
                </a:solidFill>
                <a:latin typeface="Arial"/>
                <a:ea typeface="Arial"/>
                <a:cs typeface="Arial"/>
              </a:defRPr>
            </a:pPr>
            <a:r>
              <a:rPr sz="1650" b="1" i="0">
                <a:solidFill>
                  <a:srgbClr val="52646A"/>
                </a:solidFill>
                <a:latin typeface="Arial"/>
                <a:ea typeface="Arial"/>
                <a:cs typeface="Arial"/>
              </a:rPr>
              <a:t>IoU is a silhouette fit measure; it cannot prove hidden geometry is correct.</a:t>
            </a:r>
          </a:p>
        </p:txBody>
      </p:sp>
    </p:spTree>
    <p:extLst>
      <p:ext uri="{BB962C8B-B14F-4D97-AF65-F5344CB8AC3E}">
        <p14:creationId xmlns:p14="http://schemas.microsoft.com/office/powerpoint/2010/main" val="1653788611"/>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FCB6A9-7314-4B2F-AB84-F7B41E9727C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2A0CA215-8954-446F-B509-9651A723473B}"/>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11: Quality report and file profiles</a:t>
            </a:r>
          </a:p>
        </p:txBody>
      </p:sp>
      <p:sp>
        <p:nvSpPr>
          <p:cNvPr id="3" name="">
            <a:extLst xmlns:a="http://schemas.openxmlformats.org/drawingml/2006/main">
              <a:ext uri="{FF2B5EF4-FFF2-40B4-BE49-F238E27FC236}">
                <a16:creationId xmlns:a16="http://schemas.microsoft.com/office/drawing/2014/main" id="{1B7DD93E-3188-418F-8A42-058B85FBA000}"/>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DF6A8D3B-CDD3-4AD0-BFDB-7E180D7C3A9B}"/>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7CA10069-F3EA-4C8F-9CD6-2E7612BDD65F}"/>
              </a:ext>
            </a:extLst>
          </p:cNvPr>
          <p:cNvSpPr>
            <a:spLocks xmlns:a="http://schemas.openxmlformats.org/drawingml/2006/main" noGrp="1"/>
          </p:cNvSpPr>
          <p:nvPr/>
        </p:nvSpPr>
        <p:spPr>
          <a:xfrm xmlns:a="http://schemas.openxmlformats.org/drawingml/2006/main">
            <a:off x="685800" y="1685925"/>
            <a:ext cx="542925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project keeps a visual mesh and a print mesh. The visual version can preserve intentional openings; the print profile is intended for manufacturing.</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Print-ready requires a watertight print mesh, one connected component, and at least 1,000 faces. If units are millimeters, the smallest dimension must meet the configured minimum (default 0.8 mm).</a:t>
            </a:r>
          </a:p>
        </p:txBody>
      </p:sp>
      <p:sp>
        <p:nvSpPr>
          <p:cNvPr id="6" name="">
            <a:extLst xmlns:a="http://schemas.openxmlformats.org/drawingml/2006/main">
              <a:ext uri="{FF2B5EF4-FFF2-40B4-BE49-F238E27FC236}">
                <a16:creationId xmlns:a16="http://schemas.microsoft.com/office/drawing/2014/main" id="{32CDCDDD-DBD7-4B2B-9EC6-EF2C934768F4}"/>
              </a:ext>
            </a:extLst>
          </p:cNvPr>
          <p:cNvSpPr>
            <a:spLocks xmlns:a="http://schemas.openxmlformats.org/drawingml/2006/main" noGrp="1"/>
          </p:cNvSpPr>
          <p:nvPr/>
        </p:nvSpPr>
        <p:spPr>
          <a:xfrm xmlns:a="http://schemas.openxmlformats.org/drawingml/2006/main">
            <a:off x="6362700" y="1809750"/>
            <a:ext cx="5143500" cy="30480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print_ready = bool(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print_mesh.is_watertight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and len(print_parts) == 1</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and len(print_mesh.faces) &gt;= 1000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print_units == "millimeters" and min(print_dims.values()) &lt; min_feature_mm:</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print_ready = False</a:t>
            </a:r>
          </a:p>
        </p:txBody>
      </p:sp>
      <p:sp>
        <p:nvSpPr>
          <p:cNvPr id="7" name="">
            <a:extLst xmlns:a="http://schemas.openxmlformats.org/drawingml/2006/main">
              <a:ext uri="{FF2B5EF4-FFF2-40B4-BE49-F238E27FC236}">
                <a16:creationId xmlns:a16="http://schemas.microsoft.com/office/drawing/2014/main" id="{20C9EC65-D14B-481D-838B-C83159B9EE65}"/>
              </a:ext>
            </a:extLst>
          </p:cNvPr>
          <p:cNvSpPr>
            <a:spLocks xmlns:a="http://schemas.openxmlformats.org/drawingml/2006/main" noGrp="1"/>
          </p:cNvSpPr>
          <p:nvPr/>
        </p:nvSpPr>
        <p:spPr>
          <a:xfrm xmlns:a="http://schemas.openxmlformats.org/drawingml/2006/main">
            <a:off x="6362700" y="49911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reconstructor.py:1922–1947</a:t>
            </a:r>
          </a:p>
        </p:txBody>
      </p:sp>
      <p:sp>
        <p:nvSpPr>
          <p:cNvPr id="8" name="">
            <a:extLst xmlns:a="http://schemas.openxmlformats.org/drawingml/2006/main">
              <a:ext uri="{FF2B5EF4-FFF2-40B4-BE49-F238E27FC236}">
                <a16:creationId xmlns:a16="http://schemas.microsoft.com/office/drawing/2014/main" id="{797FFACA-3505-4E44-9422-E8D7DBC0C84E}"/>
              </a:ext>
            </a:extLst>
          </p:cNvPr>
          <p:cNvSpPr>
            <a:spLocks xmlns:a="http://schemas.openxmlformats.org/drawingml/2006/main" noGrp="1"/>
          </p:cNvSpPr>
          <p:nvPr/>
        </p:nvSpPr>
        <p:spPr>
          <a:xfrm xmlns:a="http://schemas.openxmlformats.org/drawingml/2006/main">
            <a:off x="685800" y="58769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Exports can include GLB, STL, AR/VR, game, simulation, and other profiles.</a:t>
            </a:r>
          </a:p>
        </p:txBody>
      </p:sp>
    </p:spTree>
    <p:extLst>
      <p:ext uri="{BB962C8B-B14F-4D97-AF65-F5344CB8AC3E}">
        <p14:creationId xmlns:p14="http://schemas.microsoft.com/office/powerpoint/2010/main" val="447956370"/>
      </p:ext>
    </p:extLst>
  </p:cSld>
</p:sld>
</file>

<file path=ppt/slides/slide1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706297-8D35-434D-9383-378DBA73B57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51679007-8AF0-4D2B-8183-311F46A068ED}"/>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Step 12: Return the model to the browser</a:t>
            </a:r>
          </a:p>
        </p:txBody>
      </p:sp>
      <p:sp>
        <p:nvSpPr>
          <p:cNvPr id="3" name="">
            <a:extLst xmlns:a="http://schemas.openxmlformats.org/drawingml/2006/main">
              <a:ext uri="{FF2B5EF4-FFF2-40B4-BE49-F238E27FC236}">
                <a16:creationId xmlns:a16="http://schemas.microsoft.com/office/drawing/2014/main" id="{F41AD060-9AA4-40CB-AB28-8065D18F3398}"/>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0DB7543E-43FB-49EF-BE02-E9B83F2D23B6}"/>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1717F63F-3120-40AE-AC1E-7A084951FCAB}"/>
              </a:ext>
            </a:extLst>
          </p:cNvPr>
          <p:cNvSpPr>
            <a:spLocks xmlns:a="http://schemas.openxmlformats.org/drawingml/2006/main" noGrp="1"/>
          </p:cNvSpPr>
          <p:nvPr/>
        </p:nvSpPr>
        <p:spPr>
          <a:xfrm xmlns:a="http://schemas.openxmlformats.org/drawingml/2006/main">
            <a:off x="685800" y="1676400"/>
            <a:ext cx="53816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upload response first returns views and depth maps and marks reconstruction as running. The browser polls /recon_status every five seconds.</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When complete, the page shows mesh counts, dimensions, method, print status, quality issues, and links to view or download files. Generated file requests require authentication and ownership.</a:t>
            </a:r>
          </a:p>
        </p:txBody>
      </p:sp>
      <p:sp>
        <p:nvSpPr>
          <p:cNvPr id="6" name="">
            <a:extLst xmlns:a="http://schemas.openxmlformats.org/drawingml/2006/main">
              <a:ext uri="{FF2B5EF4-FFF2-40B4-BE49-F238E27FC236}">
                <a16:creationId xmlns:a16="http://schemas.microsoft.com/office/drawing/2014/main" id="{49BA1320-5B7F-4E6D-9686-9DCC9E735B0B}"/>
              </a:ext>
            </a:extLst>
          </p:cNvPr>
          <p:cNvSpPr>
            <a:spLocks xmlns:a="http://schemas.openxmlformats.org/drawingml/2006/main" noGrp="1"/>
          </p:cNvSpPr>
          <p:nvPr/>
        </p:nvSpPr>
        <p:spPr>
          <a:xfrm xmlns:a="http://schemas.openxmlformats.org/drawingml/2006/main">
            <a:off x="6334125" y="1809750"/>
            <a:ext cx="5191125" cy="3143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(d.status === 'done' || d.status === 'success')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_updateReconCard('done', 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_updateCompareViewer(d.final_glb);</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new THREE.GLTFLoader().load(blobUrl,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function(g)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finishLoad(g.scene, name, 'GLB');</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C34E030C-E941-4AD0-9576-F736E0D7BF8C}"/>
              </a:ext>
            </a:extLst>
          </p:cNvPr>
          <p:cNvSpPr>
            <a:spLocks xmlns:a="http://schemas.openxmlformats.org/drawingml/2006/main" noGrp="1"/>
          </p:cNvSpPr>
          <p:nvPr/>
        </p:nvSpPr>
        <p:spPr>
          <a:xfrm xmlns:a="http://schemas.openxmlformats.org/drawingml/2006/main">
            <a:off x="6334125" y="5086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JS/DropImage.js:558–587 · HTML/Viewer3d.html:559–581</a:t>
            </a:r>
          </a:p>
        </p:txBody>
      </p:sp>
      <p:sp>
        <p:nvSpPr>
          <p:cNvPr id="8" name="">
            <a:extLst xmlns:a="http://schemas.openxmlformats.org/drawingml/2006/main">
              <a:ext uri="{FF2B5EF4-FFF2-40B4-BE49-F238E27FC236}">
                <a16:creationId xmlns:a16="http://schemas.microsoft.com/office/drawing/2014/main" id="{F9681F3B-D624-4752-97A4-599BFC0D183C}"/>
              </a:ext>
            </a:extLst>
          </p:cNvPr>
          <p:cNvSpPr>
            <a:spLocks xmlns:a="http://schemas.openxmlformats.org/drawingml/2006/main" noGrp="1"/>
          </p:cNvSpPr>
          <p:nvPr/>
        </p:nvSpPr>
        <p:spPr>
          <a:xfrm xmlns:a="http://schemas.openxmlformats.org/drawingml/2006/main">
            <a:off x="68580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End state: inspect the model, download the GLB, or choose a print/export profile.</a:t>
            </a:r>
          </a:p>
        </p:txBody>
      </p:sp>
    </p:spTree>
    <p:extLst>
      <p:ext uri="{BB962C8B-B14F-4D97-AF65-F5344CB8AC3E}">
        <p14:creationId xmlns:p14="http://schemas.microsoft.com/office/powerpoint/2010/main" val="2396054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2026-09-28T03:07:46.6660000Z</dcterms:created>
  <dcterms:modified xsi:type="dcterms:W3CDTF">2026-09-28T03:07:46.6660000Z</dcterms:modified>
</coreProperties>
</file>